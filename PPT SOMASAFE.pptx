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93" r:id="rId1"/>
    <p:sldMasterId id="2147483705" r:id="rId2"/>
  </p:sldMasterIdLst>
  <p:sldIdLst>
    <p:sldId id="256" r:id="rId3"/>
    <p:sldId id="258" r:id="rId4"/>
    <p:sldId id="257" r:id="rId5"/>
    <p:sldId id="259" r:id="rId6"/>
    <p:sldId id="278" r:id="rId7"/>
    <p:sldId id="260" r:id="rId8"/>
    <p:sldId id="279" r:id="rId9"/>
    <p:sldId id="270" r:id="rId10"/>
    <p:sldId id="280" r:id="rId11"/>
    <p:sldId id="262" r:id="rId12"/>
    <p:sldId id="274" r:id="rId13"/>
    <p:sldId id="281" r:id="rId14"/>
    <p:sldId id="272" r:id="rId15"/>
    <p:sldId id="283" r:id="rId16"/>
    <p:sldId id="284" r:id="rId17"/>
    <p:sldId id="282" r:id="rId18"/>
    <p:sldId id="264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5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8CEFCA-90FA-4F5D-8AE9-389C0DB790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0CA338B-254F-4DEC-A4D5-A14912FAD5A0}">
      <dgm:prSet/>
      <dgm:spPr/>
      <dgm:t>
        <a:bodyPr/>
        <a:lstStyle/>
        <a:p>
          <a:r>
            <a:rPr lang="es-MX" dirty="0"/>
            <a:t>SomaSafe es un sistema web que permite gestionar incidentes de seguridad en empresas mineras en Arequipa, facilitando el registro y monitoreo en tiempo real.</a:t>
          </a:r>
          <a:endParaRPr lang="en-US" dirty="0"/>
        </a:p>
      </dgm:t>
    </dgm:pt>
    <dgm:pt modelId="{5DA2F259-A6F4-4C7B-8C56-706EE4426FD6}" type="parTrans" cxnId="{9CA232B1-6C94-419E-A1F7-A4C92A2D8354}">
      <dgm:prSet/>
      <dgm:spPr/>
      <dgm:t>
        <a:bodyPr/>
        <a:lstStyle/>
        <a:p>
          <a:endParaRPr lang="en-US"/>
        </a:p>
      </dgm:t>
    </dgm:pt>
    <dgm:pt modelId="{B970D4FB-8901-4821-9D01-E245F74A6FE7}" type="sibTrans" cxnId="{9CA232B1-6C94-419E-A1F7-A4C92A2D8354}">
      <dgm:prSet/>
      <dgm:spPr/>
      <dgm:t>
        <a:bodyPr/>
        <a:lstStyle/>
        <a:p>
          <a:endParaRPr lang="en-US"/>
        </a:p>
      </dgm:t>
    </dgm:pt>
    <dgm:pt modelId="{E3E9F6A1-87C4-4BBE-93C8-2AFC3C437F43}">
      <dgm:prSet/>
      <dgm:spPr/>
      <dgm:t>
        <a:bodyPr/>
        <a:lstStyle/>
        <a:p>
          <a:r>
            <a:rPr lang="es-MX" dirty="0"/>
            <a:t>El proyecto busca digitalizar procesos manuales, mejorando la organización de la información y el seguimiento de incidentes.</a:t>
          </a:r>
          <a:endParaRPr lang="en-US" dirty="0"/>
        </a:p>
      </dgm:t>
    </dgm:pt>
    <dgm:pt modelId="{8FD8B696-EE1D-427B-ABA0-C7FA3192B5FF}" type="parTrans" cxnId="{7A64C6FC-F88E-4644-AAD0-8D48D77F2AD1}">
      <dgm:prSet/>
      <dgm:spPr/>
      <dgm:t>
        <a:bodyPr/>
        <a:lstStyle/>
        <a:p>
          <a:endParaRPr lang="en-US"/>
        </a:p>
      </dgm:t>
    </dgm:pt>
    <dgm:pt modelId="{B16C467A-60DE-473B-9196-6254650447F1}" type="sibTrans" cxnId="{7A64C6FC-F88E-4644-AAD0-8D48D77F2AD1}">
      <dgm:prSet/>
      <dgm:spPr/>
      <dgm:t>
        <a:bodyPr/>
        <a:lstStyle/>
        <a:p>
          <a:endParaRPr lang="en-US"/>
        </a:p>
      </dgm:t>
    </dgm:pt>
    <dgm:pt modelId="{E7B9DA43-F6D2-4909-8387-4ABE09BE9C8D}">
      <dgm:prSet/>
      <dgm:spPr/>
      <dgm:t>
        <a:bodyPr/>
        <a:lstStyle/>
        <a:p>
          <a:r>
            <a:rPr lang="es-MX" dirty="0"/>
            <a:t>Está dirigido a supervisores y personal de campo, facilitando el acceso a información en tiempo real y la toma de decisiones.</a:t>
          </a:r>
          <a:endParaRPr lang="en-US" dirty="0"/>
        </a:p>
      </dgm:t>
    </dgm:pt>
    <dgm:pt modelId="{B6231E52-4CCE-4B26-AB62-4198895D0CF8}" type="parTrans" cxnId="{41EAA506-65E3-4B79-8EDB-E8CC37E858AA}">
      <dgm:prSet/>
      <dgm:spPr/>
      <dgm:t>
        <a:bodyPr/>
        <a:lstStyle/>
        <a:p>
          <a:endParaRPr lang="en-US"/>
        </a:p>
      </dgm:t>
    </dgm:pt>
    <dgm:pt modelId="{66818F94-58B4-427F-89B1-6D4922A2FD09}" type="sibTrans" cxnId="{41EAA506-65E3-4B79-8EDB-E8CC37E858AA}">
      <dgm:prSet/>
      <dgm:spPr/>
      <dgm:t>
        <a:bodyPr/>
        <a:lstStyle/>
        <a:p>
          <a:endParaRPr lang="en-US"/>
        </a:p>
      </dgm:t>
    </dgm:pt>
    <dgm:pt modelId="{EA98E784-5287-4632-8EAB-EFE06B9233BD}" type="pres">
      <dgm:prSet presAssocID="{398CEFCA-90FA-4F5D-8AE9-389C0DB79088}" presName="root" presStyleCnt="0">
        <dgm:presLayoutVars>
          <dgm:dir/>
          <dgm:resizeHandles val="exact"/>
        </dgm:presLayoutVars>
      </dgm:prSet>
      <dgm:spPr/>
    </dgm:pt>
    <dgm:pt modelId="{19567662-0C63-4175-A253-37DF5F7BE431}" type="pres">
      <dgm:prSet presAssocID="{10CA338B-254F-4DEC-A4D5-A14912FAD5A0}" presName="compNode" presStyleCnt="0"/>
      <dgm:spPr/>
    </dgm:pt>
    <dgm:pt modelId="{23D04B06-3C66-43AE-B710-76DFAEF2CFF5}" type="pres">
      <dgm:prSet presAssocID="{10CA338B-254F-4DEC-A4D5-A14912FAD5A0}" presName="bgRect" presStyleLbl="bgShp" presStyleIdx="0" presStyleCnt="3"/>
      <dgm:spPr/>
    </dgm:pt>
    <dgm:pt modelId="{B7C3B094-DF5A-4869-84A2-6E4845FDAF8D}" type="pres">
      <dgm:prSet presAssocID="{10CA338B-254F-4DEC-A4D5-A14912FAD5A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377B57A8-73E6-4206-97A5-36AFE7C2E30F}" type="pres">
      <dgm:prSet presAssocID="{10CA338B-254F-4DEC-A4D5-A14912FAD5A0}" presName="spaceRect" presStyleCnt="0"/>
      <dgm:spPr/>
    </dgm:pt>
    <dgm:pt modelId="{9A2D0A32-8B8C-45E2-821F-898B94E49A4C}" type="pres">
      <dgm:prSet presAssocID="{10CA338B-254F-4DEC-A4D5-A14912FAD5A0}" presName="parTx" presStyleLbl="revTx" presStyleIdx="0" presStyleCnt="3">
        <dgm:presLayoutVars>
          <dgm:chMax val="0"/>
          <dgm:chPref val="0"/>
        </dgm:presLayoutVars>
      </dgm:prSet>
      <dgm:spPr/>
    </dgm:pt>
    <dgm:pt modelId="{E4E1FE35-8BB1-48B2-A778-B3AFD14ED817}" type="pres">
      <dgm:prSet presAssocID="{B970D4FB-8901-4821-9D01-E245F74A6FE7}" presName="sibTrans" presStyleCnt="0"/>
      <dgm:spPr/>
    </dgm:pt>
    <dgm:pt modelId="{ECFB9BFF-0CEE-4ED5-9F1A-3E2B04BC8BA5}" type="pres">
      <dgm:prSet presAssocID="{E3E9F6A1-87C4-4BBE-93C8-2AFC3C437F43}" presName="compNode" presStyleCnt="0"/>
      <dgm:spPr/>
    </dgm:pt>
    <dgm:pt modelId="{9A24362F-01BF-4232-B7AE-3756909A26FD}" type="pres">
      <dgm:prSet presAssocID="{E3E9F6A1-87C4-4BBE-93C8-2AFC3C437F43}" presName="bgRect" presStyleLbl="bgShp" presStyleIdx="1" presStyleCnt="3"/>
      <dgm:spPr/>
    </dgm:pt>
    <dgm:pt modelId="{18165C7F-A86D-4B38-B728-3EE6D12C75D6}" type="pres">
      <dgm:prSet presAssocID="{E3E9F6A1-87C4-4BBE-93C8-2AFC3C437F4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8F4DA96-9977-49AC-BF10-D01D69A03E6A}" type="pres">
      <dgm:prSet presAssocID="{E3E9F6A1-87C4-4BBE-93C8-2AFC3C437F43}" presName="spaceRect" presStyleCnt="0"/>
      <dgm:spPr/>
    </dgm:pt>
    <dgm:pt modelId="{83B23654-5270-4F4B-8A69-7F194FAECCB2}" type="pres">
      <dgm:prSet presAssocID="{E3E9F6A1-87C4-4BBE-93C8-2AFC3C437F43}" presName="parTx" presStyleLbl="revTx" presStyleIdx="1" presStyleCnt="3">
        <dgm:presLayoutVars>
          <dgm:chMax val="0"/>
          <dgm:chPref val="0"/>
        </dgm:presLayoutVars>
      </dgm:prSet>
      <dgm:spPr/>
    </dgm:pt>
    <dgm:pt modelId="{AC79FE9E-1F09-424E-AF14-85FA98AB0965}" type="pres">
      <dgm:prSet presAssocID="{B16C467A-60DE-473B-9196-6254650447F1}" presName="sibTrans" presStyleCnt="0"/>
      <dgm:spPr/>
    </dgm:pt>
    <dgm:pt modelId="{F6FED1B4-0AEF-42C1-9FBD-4CFC3F22BEA1}" type="pres">
      <dgm:prSet presAssocID="{E7B9DA43-F6D2-4909-8387-4ABE09BE9C8D}" presName="compNode" presStyleCnt="0"/>
      <dgm:spPr/>
    </dgm:pt>
    <dgm:pt modelId="{8033FAC3-1BAB-443B-81DE-EFAF7ACDE4D7}" type="pres">
      <dgm:prSet presAssocID="{E7B9DA43-F6D2-4909-8387-4ABE09BE9C8D}" presName="bgRect" presStyleLbl="bgShp" presStyleIdx="2" presStyleCnt="3"/>
      <dgm:spPr/>
    </dgm:pt>
    <dgm:pt modelId="{779CD72A-64BF-49B1-9369-2E9E2828ED37}" type="pres">
      <dgm:prSet presAssocID="{E7B9DA43-F6D2-4909-8387-4ABE09BE9C8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enda de campaña"/>
        </a:ext>
      </dgm:extLst>
    </dgm:pt>
    <dgm:pt modelId="{EB69C7F1-1BE7-466D-ABE7-9D0E9D1E1171}" type="pres">
      <dgm:prSet presAssocID="{E7B9DA43-F6D2-4909-8387-4ABE09BE9C8D}" presName="spaceRect" presStyleCnt="0"/>
      <dgm:spPr/>
    </dgm:pt>
    <dgm:pt modelId="{64B1310B-42AD-4E41-8D6A-F07B45696EA3}" type="pres">
      <dgm:prSet presAssocID="{E7B9DA43-F6D2-4909-8387-4ABE09BE9C8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1EAA506-65E3-4B79-8EDB-E8CC37E858AA}" srcId="{398CEFCA-90FA-4F5D-8AE9-389C0DB79088}" destId="{E7B9DA43-F6D2-4909-8387-4ABE09BE9C8D}" srcOrd="2" destOrd="0" parTransId="{B6231E52-4CCE-4B26-AB62-4198895D0CF8}" sibTransId="{66818F94-58B4-427F-89B1-6D4922A2FD09}"/>
    <dgm:cxn modelId="{1C4BDB20-F134-43E6-9F18-C70595D35E61}" type="presOf" srcId="{10CA338B-254F-4DEC-A4D5-A14912FAD5A0}" destId="{9A2D0A32-8B8C-45E2-821F-898B94E49A4C}" srcOrd="0" destOrd="0" presId="urn:microsoft.com/office/officeart/2018/2/layout/IconVerticalSolidList"/>
    <dgm:cxn modelId="{494ACC5B-0182-482C-90B0-6EDE53A1DC66}" type="presOf" srcId="{398CEFCA-90FA-4F5D-8AE9-389C0DB79088}" destId="{EA98E784-5287-4632-8EAB-EFE06B9233BD}" srcOrd="0" destOrd="0" presId="urn:microsoft.com/office/officeart/2018/2/layout/IconVerticalSolidList"/>
    <dgm:cxn modelId="{068BFB66-0EB9-41D9-AD80-6BF862FFC5E2}" type="presOf" srcId="{E7B9DA43-F6D2-4909-8387-4ABE09BE9C8D}" destId="{64B1310B-42AD-4E41-8D6A-F07B45696EA3}" srcOrd="0" destOrd="0" presId="urn:microsoft.com/office/officeart/2018/2/layout/IconVerticalSolidList"/>
    <dgm:cxn modelId="{9CA232B1-6C94-419E-A1F7-A4C92A2D8354}" srcId="{398CEFCA-90FA-4F5D-8AE9-389C0DB79088}" destId="{10CA338B-254F-4DEC-A4D5-A14912FAD5A0}" srcOrd="0" destOrd="0" parTransId="{5DA2F259-A6F4-4C7B-8C56-706EE4426FD6}" sibTransId="{B970D4FB-8901-4821-9D01-E245F74A6FE7}"/>
    <dgm:cxn modelId="{E9C5FAE0-EBB5-4F7C-B9C2-4066CF181556}" type="presOf" srcId="{E3E9F6A1-87C4-4BBE-93C8-2AFC3C437F43}" destId="{83B23654-5270-4F4B-8A69-7F194FAECCB2}" srcOrd="0" destOrd="0" presId="urn:microsoft.com/office/officeart/2018/2/layout/IconVerticalSolidList"/>
    <dgm:cxn modelId="{7A64C6FC-F88E-4644-AAD0-8D48D77F2AD1}" srcId="{398CEFCA-90FA-4F5D-8AE9-389C0DB79088}" destId="{E3E9F6A1-87C4-4BBE-93C8-2AFC3C437F43}" srcOrd="1" destOrd="0" parTransId="{8FD8B696-EE1D-427B-ABA0-C7FA3192B5FF}" sibTransId="{B16C467A-60DE-473B-9196-6254650447F1}"/>
    <dgm:cxn modelId="{37C3F434-4243-4C7E-A964-FC38071ECAD4}" type="presParOf" srcId="{EA98E784-5287-4632-8EAB-EFE06B9233BD}" destId="{19567662-0C63-4175-A253-37DF5F7BE431}" srcOrd="0" destOrd="0" presId="urn:microsoft.com/office/officeart/2018/2/layout/IconVerticalSolidList"/>
    <dgm:cxn modelId="{E70B1D8B-2DF7-4F80-AC40-150DF97BA9FE}" type="presParOf" srcId="{19567662-0C63-4175-A253-37DF5F7BE431}" destId="{23D04B06-3C66-43AE-B710-76DFAEF2CFF5}" srcOrd="0" destOrd="0" presId="urn:microsoft.com/office/officeart/2018/2/layout/IconVerticalSolidList"/>
    <dgm:cxn modelId="{5765AEBD-37BE-4981-A28F-42D5F9FA139C}" type="presParOf" srcId="{19567662-0C63-4175-A253-37DF5F7BE431}" destId="{B7C3B094-DF5A-4869-84A2-6E4845FDAF8D}" srcOrd="1" destOrd="0" presId="urn:microsoft.com/office/officeart/2018/2/layout/IconVerticalSolidList"/>
    <dgm:cxn modelId="{DA0CEB51-5126-4789-B997-B8C679AE6B32}" type="presParOf" srcId="{19567662-0C63-4175-A253-37DF5F7BE431}" destId="{377B57A8-73E6-4206-97A5-36AFE7C2E30F}" srcOrd="2" destOrd="0" presId="urn:microsoft.com/office/officeart/2018/2/layout/IconVerticalSolidList"/>
    <dgm:cxn modelId="{4E3CC90F-2CCA-49D2-B696-23E87751E7F5}" type="presParOf" srcId="{19567662-0C63-4175-A253-37DF5F7BE431}" destId="{9A2D0A32-8B8C-45E2-821F-898B94E49A4C}" srcOrd="3" destOrd="0" presId="urn:microsoft.com/office/officeart/2018/2/layout/IconVerticalSolidList"/>
    <dgm:cxn modelId="{F84ED7C5-5640-4E84-9EF6-01424C7D88A9}" type="presParOf" srcId="{EA98E784-5287-4632-8EAB-EFE06B9233BD}" destId="{E4E1FE35-8BB1-48B2-A778-B3AFD14ED817}" srcOrd="1" destOrd="0" presId="urn:microsoft.com/office/officeart/2018/2/layout/IconVerticalSolidList"/>
    <dgm:cxn modelId="{70878170-C279-4BE6-817C-6A2682C2ADA9}" type="presParOf" srcId="{EA98E784-5287-4632-8EAB-EFE06B9233BD}" destId="{ECFB9BFF-0CEE-4ED5-9F1A-3E2B04BC8BA5}" srcOrd="2" destOrd="0" presId="urn:microsoft.com/office/officeart/2018/2/layout/IconVerticalSolidList"/>
    <dgm:cxn modelId="{049EB934-E10E-481B-81D7-FE5BEF2567AB}" type="presParOf" srcId="{ECFB9BFF-0CEE-4ED5-9F1A-3E2B04BC8BA5}" destId="{9A24362F-01BF-4232-B7AE-3756909A26FD}" srcOrd="0" destOrd="0" presId="urn:microsoft.com/office/officeart/2018/2/layout/IconVerticalSolidList"/>
    <dgm:cxn modelId="{6674AC66-4AFF-46FC-BDFE-9E50A816B643}" type="presParOf" srcId="{ECFB9BFF-0CEE-4ED5-9F1A-3E2B04BC8BA5}" destId="{18165C7F-A86D-4B38-B728-3EE6D12C75D6}" srcOrd="1" destOrd="0" presId="urn:microsoft.com/office/officeart/2018/2/layout/IconVerticalSolidList"/>
    <dgm:cxn modelId="{B700D4E0-ECDE-4853-81B2-865742230534}" type="presParOf" srcId="{ECFB9BFF-0CEE-4ED5-9F1A-3E2B04BC8BA5}" destId="{28F4DA96-9977-49AC-BF10-D01D69A03E6A}" srcOrd="2" destOrd="0" presId="urn:microsoft.com/office/officeart/2018/2/layout/IconVerticalSolidList"/>
    <dgm:cxn modelId="{FCEC76BA-691E-491F-9B28-016AC0CD771A}" type="presParOf" srcId="{ECFB9BFF-0CEE-4ED5-9F1A-3E2B04BC8BA5}" destId="{83B23654-5270-4F4B-8A69-7F194FAECCB2}" srcOrd="3" destOrd="0" presId="urn:microsoft.com/office/officeart/2018/2/layout/IconVerticalSolidList"/>
    <dgm:cxn modelId="{3E78E89B-6DDB-4C15-BB52-61109CBB9351}" type="presParOf" srcId="{EA98E784-5287-4632-8EAB-EFE06B9233BD}" destId="{AC79FE9E-1F09-424E-AF14-85FA98AB0965}" srcOrd="3" destOrd="0" presId="urn:microsoft.com/office/officeart/2018/2/layout/IconVerticalSolidList"/>
    <dgm:cxn modelId="{8064502B-7150-4943-962E-A7BFC47AAE36}" type="presParOf" srcId="{EA98E784-5287-4632-8EAB-EFE06B9233BD}" destId="{F6FED1B4-0AEF-42C1-9FBD-4CFC3F22BEA1}" srcOrd="4" destOrd="0" presId="urn:microsoft.com/office/officeart/2018/2/layout/IconVerticalSolidList"/>
    <dgm:cxn modelId="{27607A68-FA10-4020-B66C-D3276C31B138}" type="presParOf" srcId="{F6FED1B4-0AEF-42C1-9FBD-4CFC3F22BEA1}" destId="{8033FAC3-1BAB-443B-81DE-EFAF7ACDE4D7}" srcOrd="0" destOrd="0" presId="urn:microsoft.com/office/officeart/2018/2/layout/IconVerticalSolidList"/>
    <dgm:cxn modelId="{6FE532A7-C2B8-4C35-B719-BC627DC610D8}" type="presParOf" srcId="{F6FED1B4-0AEF-42C1-9FBD-4CFC3F22BEA1}" destId="{779CD72A-64BF-49B1-9369-2E9E2828ED37}" srcOrd="1" destOrd="0" presId="urn:microsoft.com/office/officeart/2018/2/layout/IconVerticalSolidList"/>
    <dgm:cxn modelId="{9AB8216A-42C0-4188-A827-9D711840E03B}" type="presParOf" srcId="{F6FED1B4-0AEF-42C1-9FBD-4CFC3F22BEA1}" destId="{EB69C7F1-1BE7-466D-ABE7-9D0E9D1E1171}" srcOrd="2" destOrd="0" presId="urn:microsoft.com/office/officeart/2018/2/layout/IconVerticalSolidList"/>
    <dgm:cxn modelId="{8E31D02B-856C-43A1-A82F-4809AE23A05B}" type="presParOf" srcId="{F6FED1B4-0AEF-42C1-9FBD-4CFC3F22BEA1}" destId="{64B1310B-42AD-4E41-8D6A-F07B45696EA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8CEFCA-90FA-4F5D-8AE9-389C0DB79088}" type="doc">
      <dgm:prSet loTypeId="urn:microsoft.com/office/officeart/2008/layout/LinedList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0CA338B-254F-4DEC-A4D5-A14912FAD5A0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• Registro digital de incidentes en tiempo real</a:t>
          </a:r>
          <a:br>
            <a:rPr lang="es-MX" dirty="0"/>
          </a:br>
          <a:r>
            <a:rPr lang="es-MX" dirty="0"/>
            <a:t>• Monitoreo y seguimiento de incidentes</a:t>
          </a:r>
          <a:br>
            <a:rPr lang="es-MX" dirty="0"/>
          </a:br>
          <a:r>
            <a:rPr lang="es-MX" dirty="0"/>
            <a:t>• Centralización de información en una base de datos</a:t>
          </a:r>
          <a:br>
            <a:rPr lang="es-MX" dirty="0"/>
          </a:br>
          <a:r>
            <a:rPr lang="es-MX" dirty="0"/>
            <a:t>• Generación de reportes de seguridad</a:t>
          </a:r>
          <a:br>
            <a:rPr lang="es-MX" dirty="0"/>
          </a:br>
          <a:r>
            <a:rPr lang="es-MX" dirty="0"/>
            <a:t>• Acceso mediante plataforma web</a:t>
          </a:r>
          <a:endParaRPr lang="en-US" dirty="0"/>
        </a:p>
      </dgm:t>
    </dgm:pt>
    <dgm:pt modelId="{5DA2F259-A6F4-4C7B-8C56-706EE4426FD6}" type="parTrans" cxnId="{9CA232B1-6C94-419E-A1F7-A4C92A2D8354}">
      <dgm:prSet/>
      <dgm:spPr/>
      <dgm:t>
        <a:bodyPr/>
        <a:lstStyle/>
        <a:p>
          <a:endParaRPr lang="en-US"/>
        </a:p>
      </dgm:t>
    </dgm:pt>
    <dgm:pt modelId="{B970D4FB-8901-4821-9D01-E245F74A6FE7}" type="sibTrans" cxnId="{9CA232B1-6C94-419E-A1F7-A4C92A2D8354}">
      <dgm:prSet/>
      <dgm:spPr/>
      <dgm:t>
        <a:bodyPr/>
        <a:lstStyle/>
        <a:p>
          <a:endParaRPr lang="en-US"/>
        </a:p>
      </dgm:t>
    </dgm:pt>
    <dgm:pt modelId="{E3E9F6A1-87C4-4BBE-93C8-2AFC3C437F43}">
      <dgm:prSet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• Uso inicial limitado a empresas mineras en Arequipa</a:t>
          </a:r>
          <a:br>
            <a:rPr lang="es-MX" dirty="0"/>
          </a:br>
          <a:r>
            <a:rPr lang="es-MX" dirty="0"/>
            <a:t>• Dependencia de conexión a internet</a:t>
          </a:r>
          <a:br>
            <a:rPr lang="es-MX" dirty="0"/>
          </a:br>
          <a:r>
            <a:rPr lang="es-MX" dirty="0"/>
            <a:t>• No incluye integración con sistemas externos (en esta fase)</a:t>
          </a:r>
          <a:br>
            <a:rPr lang="es-MX" dirty="0"/>
          </a:br>
          <a:r>
            <a:rPr lang="es-MX" dirty="0"/>
            <a:t>• Desarrollo enfocado a prototipo funcional</a:t>
          </a:r>
          <a:br>
            <a:rPr lang="es-MX" dirty="0"/>
          </a:br>
          <a:r>
            <a:rPr lang="es-MX" dirty="0"/>
            <a:t>• Seguridad avanzada no implementada completamente</a:t>
          </a:r>
          <a:endParaRPr lang="en-US" dirty="0"/>
        </a:p>
      </dgm:t>
    </dgm:pt>
    <dgm:pt modelId="{8FD8B696-EE1D-427B-ABA0-C7FA3192B5FF}" type="parTrans" cxnId="{7A64C6FC-F88E-4644-AAD0-8D48D77F2AD1}">
      <dgm:prSet/>
      <dgm:spPr/>
      <dgm:t>
        <a:bodyPr/>
        <a:lstStyle/>
        <a:p>
          <a:endParaRPr lang="en-US"/>
        </a:p>
      </dgm:t>
    </dgm:pt>
    <dgm:pt modelId="{B16C467A-60DE-473B-9196-6254650447F1}" type="sibTrans" cxnId="{7A64C6FC-F88E-4644-AAD0-8D48D77F2AD1}">
      <dgm:prSet/>
      <dgm:spPr/>
      <dgm:t>
        <a:bodyPr/>
        <a:lstStyle/>
        <a:p>
          <a:endParaRPr lang="en-US"/>
        </a:p>
      </dgm:t>
    </dgm:pt>
    <dgm:pt modelId="{2A5C999D-F44F-43CA-A535-9F989BE7A9B6}" type="pres">
      <dgm:prSet presAssocID="{398CEFCA-90FA-4F5D-8AE9-389C0DB79088}" presName="vert0" presStyleCnt="0">
        <dgm:presLayoutVars>
          <dgm:dir/>
          <dgm:animOne val="branch"/>
          <dgm:animLvl val="lvl"/>
        </dgm:presLayoutVars>
      </dgm:prSet>
      <dgm:spPr/>
    </dgm:pt>
    <dgm:pt modelId="{A99E88FE-949C-48C7-A924-0D477BE967A1}" type="pres">
      <dgm:prSet presAssocID="{10CA338B-254F-4DEC-A4D5-A14912FAD5A0}" presName="thickLine" presStyleLbl="alignNode1" presStyleIdx="0" presStyleCnt="2"/>
      <dgm:spPr/>
    </dgm:pt>
    <dgm:pt modelId="{8E31F4F0-37B6-4315-AB85-2B584859623F}" type="pres">
      <dgm:prSet presAssocID="{10CA338B-254F-4DEC-A4D5-A14912FAD5A0}" presName="horz1" presStyleCnt="0"/>
      <dgm:spPr/>
    </dgm:pt>
    <dgm:pt modelId="{E252C8E1-576F-457B-8CD3-81C8689463BA}" type="pres">
      <dgm:prSet presAssocID="{10CA338B-254F-4DEC-A4D5-A14912FAD5A0}" presName="tx1" presStyleLbl="revTx" presStyleIdx="0" presStyleCnt="2"/>
      <dgm:spPr/>
    </dgm:pt>
    <dgm:pt modelId="{E503F766-3A64-4F6D-BB8C-3716277C89CD}" type="pres">
      <dgm:prSet presAssocID="{10CA338B-254F-4DEC-A4D5-A14912FAD5A0}" presName="vert1" presStyleCnt="0"/>
      <dgm:spPr/>
    </dgm:pt>
    <dgm:pt modelId="{780CC673-A8F6-4C32-820C-22860C296673}" type="pres">
      <dgm:prSet presAssocID="{E3E9F6A1-87C4-4BBE-93C8-2AFC3C437F43}" presName="thickLine" presStyleLbl="alignNode1" presStyleIdx="1" presStyleCnt="2"/>
      <dgm:spPr/>
    </dgm:pt>
    <dgm:pt modelId="{2FF9B062-E062-4220-BEC5-0BBD67C5173B}" type="pres">
      <dgm:prSet presAssocID="{E3E9F6A1-87C4-4BBE-93C8-2AFC3C437F43}" presName="horz1" presStyleCnt="0"/>
      <dgm:spPr/>
    </dgm:pt>
    <dgm:pt modelId="{732EB17A-DA1C-4749-ACAB-048A775763A7}" type="pres">
      <dgm:prSet presAssocID="{E3E9F6A1-87C4-4BBE-93C8-2AFC3C437F43}" presName="tx1" presStyleLbl="revTx" presStyleIdx="1" presStyleCnt="2"/>
      <dgm:spPr/>
    </dgm:pt>
    <dgm:pt modelId="{49547C34-FE40-41E4-89CF-135A9C04E642}" type="pres">
      <dgm:prSet presAssocID="{E3E9F6A1-87C4-4BBE-93C8-2AFC3C437F43}" presName="vert1" presStyleCnt="0"/>
      <dgm:spPr/>
    </dgm:pt>
  </dgm:ptLst>
  <dgm:cxnLst>
    <dgm:cxn modelId="{0283B968-14E2-4D08-99E8-7DD3625BE434}" type="presOf" srcId="{10CA338B-254F-4DEC-A4D5-A14912FAD5A0}" destId="{E252C8E1-576F-457B-8CD3-81C8689463BA}" srcOrd="0" destOrd="0" presId="urn:microsoft.com/office/officeart/2008/layout/LinedList"/>
    <dgm:cxn modelId="{C04FE169-CF5F-466F-A90C-311F27954F91}" type="presOf" srcId="{398CEFCA-90FA-4F5D-8AE9-389C0DB79088}" destId="{2A5C999D-F44F-43CA-A535-9F989BE7A9B6}" srcOrd="0" destOrd="0" presId="urn:microsoft.com/office/officeart/2008/layout/LinedList"/>
    <dgm:cxn modelId="{9CA232B1-6C94-419E-A1F7-A4C92A2D8354}" srcId="{398CEFCA-90FA-4F5D-8AE9-389C0DB79088}" destId="{10CA338B-254F-4DEC-A4D5-A14912FAD5A0}" srcOrd="0" destOrd="0" parTransId="{5DA2F259-A6F4-4C7B-8C56-706EE4426FD6}" sibTransId="{B970D4FB-8901-4821-9D01-E245F74A6FE7}"/>
    <dgm:cxn modelId="{D6AE1DFC-6124-4407-AC1A-249C5B1E6C53}" type="presOf" srcId="{E3E9F6A1-87C4-4BBE-93C8-2AFC3C437F43}" destId="{732EB17A-DA1C-4749-ACAB-048A775763A7}" srcOrd="0" destOrd="0" presId="urn:microsoft.com/office/officeart/2008/layout/LinedList"/>
    <dgm:cxn modelId="{7A64C6FC-F88E-4644-AAD0-8D48D77F2AD1}" srcId="{398CEFCA-90FA-4F5D-8AE9-389C0DB79088}" destId="{E3E9F6A1-87C4-4BBE-93C8-2AFC3C437F43}" srcOrd="1" destOrd="0" parTransId="{8FD8B696-EE1D-427B-ABA0-C7FA3192B5FF}" sibTransId="{B16C467A-60DE-473B-9196-6254650447F1}"/>
    <dgm:cxn modelId="{EF1D39E9-668B-4B48-A013-873026A9FA56}" type="presParOf" srcId="{2A5C999D-F44F-43CA-A535-9F989BE7A9B6}" destId="{A99E88FE-949C-48C7-A924-0D477BE967A1}" srcOrd="0" destOrd="0" presId="urn:microsoft.com/office/officeart/2008/layout/LinedList"/>
    <dgm:cxn modelId="{694C89AE-029E-457D-A59A-C39AE04BCCA2}" type="presParOf" srcId="{2A5C999D-F44F-43CA-A535-9F989BE7A9B6}" destId="{8E31F4F0-37B6-4315-AB85-2B584859623F}" srcOrd="1" destOrd="0" presId="urn:microsoft.com/office/officeart/2008/layout/LinedList"/>
    <dgm:cxn modelId="{A947945B-1C06-468B-BBFD-05C1B1090FF6}" type="presParOf" srcId="{8E31F4F0-37B6-4315-AB85-2B584859623F}" destId="{E252C8E1-576F-457B-8CD3-81C8689463BA}" srcOrd="0" destOrd="0" presId="urn:microsoft.com/office/officeart/2008/layout/LinedList"/>
    <dgm:cxn modelId="{2590F37B-D954-4C61-B219-1E9E67415590}" type="presParOf" srcId="{8E31F4F0-37B6-4315-AB85-2B584859623F}" destId="{E503F766-3A64-4F6D-BB8C-3716277C89CD}" srcOrd="1" destOrd="0" presId="urn:microsoft.com/office/officeart/2008/layout/LinedList"/>
    <dgm:cxn modelId="{3CEF5B6F-38C5-4B26-A1D0-FA3F4A76CAB2}" type="presParOf" srcId="{2A5C999D-F44F-43CA-A535-9F989BE7A9B6}" destId="{780CC673-A8F6-4C32-820C-22860C296673}" srcOrd="2" destOrd="0" presId="urn:microsoft.com/office/officeart/2008/layout/LinedList"/>
    <dgm:cxn modelId="{6D03D1B2-4F80-4246-90D7-86AE035F2639}" type="presParOf" srcId="{2A5C999D-F44F-43CA-A535-9F989BE7A9B6}" destId="{2FF9B062-E062-4220-BEC5-0BBD67C5173B}" srcOrd="3" destOrd="0" presId="urn:microsoft.com/office/officeart/2008/layout/LinedList"/>
    <dgm:cxn modelId="{07A724A4-C8A6-4907-B1CD-645B4A94BDAC}" type="presParOf" srcId="{2FF9B062-E062-4220-BEC5-0BBD67C5173B}" destId="{732EB17A-DA1C-4749-ACAB-048A775763A7}" srcOrd="0" destOrd="0" presId="urn:microsoft.com/office/officeart/2008/layout/LinedList"/>
    <dgm:cxn modelId="{2FAA940D-E72F-4281-808B-2CF1EE9AB6F6}" type="presParOf" srcId="{2FF9B062-E062-4220-BEC5-0BBD67C5173B}" destId="{49547C34-FE40-41E4-89CF-135A9C04E64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A683CE-DDD9-4C6A-89C3-E5655AB799C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CFCC5F5-921A-43E3-B2E7-AEEF5F26E2E5}">
      <dgm:prSet/>
      <dgm:spPr/>
      <dgm:t>
        <a:bodyPr/>
        <a:lstStyle/>
        <a:p>
          <a:r>
            <a:rPr lang="es-MX" dirty="0"/>
            <a:t>Semanas 1 - 3:</a:t>
          </a:r>
          <a:endParaRPr lang="en-US" dirty="0"/>
        </a:p>
      </dgm:t>
    </dgm:pt>
    <dgm:pt modelId="{52483A90-6DCB-40CD-8576-34A45671E99E}" type="parTrans" cxnId="{D6625D48-9968-4295-81DD-2A62B02E0C85}">
      <dgm:prSet/>
      <dgm:spPr/>
      <dgm:t>
        <a:bodyPr/>
        <a:lstStyle/>
        <a:p>
          <a:endParaRPr lang="en-US"/>
        </a:p>
      </dgm:t>
    </dgm:pt>
    <dgm:pt modelId="{AD402BA4-9E01-4953-94CF-FE7759F29DF4}" type="sibTrans" cxnId="{D6625D48-9968-4295-81DD-2A62B02E0C85}">
      <dgm:prSet/>
      <dgm:spPr/>
      <dgm:t>
        <a:bodyPr/>
        <a:lstStyle/>
        <a:p>
          <a:endParaRPr lang="en-US" dirty="0"/>
        </a:p>
      </dgm:t>
    </dgm:pt>
    <dgm:pt modelId="{CEC21950-781F-4BD5-9C45-ED88E19F3B2E}">
      <dgm:prSet/>
      <dgm:spPr/>
      <dgm:t>
        <a:bodyPr/>
        <a:lstStyle/>
        <a:p>
          <a:r>
            <a:rPr lang="es-MX" dirty="0"/>
            <a:t>Análisis del problema y levantamiento de requisitos</a:t>
          </a:r>
          <a:endParaRPr lang="en-US" dirty="0"/>
        </a:p>
      </dgm:t>
    </dgm:pt>
    <dgm:pt modelId="{3FF1BAAB-C084-499B-8653-51C604AD4338}" type="parTrans" cxnId="{70F82D4E-9EAA-41F7-AEC3-76132EABDCB1}">
      <dgm:prSet/>
      <dgm:spPr/>
      <dgm:t>
        <a:bodyPr/>
        <a:lstStyle/>
        <a:p>
          <a:endParaRPr lang="en-US"/>
        </a:p>
      </dgm:t>
    </dgm:pt>
    <dgm:pt modelId="{6AB0A904-70BB-4FE9-B42E-B107B4EDD57B}" type="sibTrans" cxnId="{70F82D4E-9EAA-41F7-AEC3-76132EABDCB1}">
      <dgm:prSet/>
      <dgm:spPr/>
      <dgm:t>
        <a:bodyPr/>
        <a:lstStyle/>
        <a:p>
          <a:endParaRPr lang="en-US" dirty="0"/>
        </a:p>
      </dgm:t>
    </dgm:pt>
    <dgm:pt modelId="{604E2BD3-599C-4C6C-B373-D4026BC62C86}">
      <dgm:prSet/>
      <dgm:spPr/>
      <dgm:t>
        <a:bodyPr/>
        <a:lstStyle/>
        <a:p>
          <a:r>
            <a:rPr lang="es-MX" dirty="0"/>
            <a:t>Semanas 4 - 6:</a:t>
          </a:r>
          <a:endParaRPr lang="en-US" dirty="0"/>
        </a:p>
      </dgm:t>
    </dgm:pt>
    <dgm:pt modelId="{B7BD362D-0085-4E5C-A6B4-993AEAC8827D}" type="parTrans" cxnId="{987BA5A5-F85F-4276-AE38-D09C25BBE783}">
      <dgm:prSet/>
      <dgm:spPr/>
      <dgm:t>
        <a:bodyPr/>
        <a:lstStyle/>
        <a:p>
          <a:endParaRPr lang="en-US"/>
        </a:p>
      </dgm:t>
    </dgm:pt>
    <dgm:pt modelId="{D801CBD6-74E1-4ADB-96C8-E300F3EB8CBE}" type="sibTrans" cxnId="{987BA5A5-F85F-4276-AE38-D09C25BBE783}">
      <dgm:prSet/>
      <dgm:spPr/>
      <dgm:t>
        <a:bodyPr/>
        <a:lstStyle/>
        <a:p>
          <a:endParaRPr lang="en-US" dirty="0"/>
        </a:p>
      </dgm:t>
    </dgm:pt>
    <dgm:pt modelId="{A269E13E-F57F-4B15-900E-B62ABB775C4A}">
      <dgm:prSet/>
      <dgm:spPr/>
      <dgm:t>
        <a:bodyPr/>
        <a:lstStyle/>
        <a:p>
          <a:r>
            <a:rPr lang="es-MX" dirty="0"/>
            <a:t>Diseño del sistema y base de datos</a:t>
          </a:r>
          <a:endParaRPr lang="en-US" dirty="0"/>
        </a:p>
      </dgm:t>
    </dgm:pt>
    <dgm:pt modelId="{17F58702-EDC1-4649-B63D-79FEB5635733}" type="parTrans" cxnId="{91181B63-D280-4659-AFC4-F679CA38F7C8}">
      <dgm:prSet/>
      <dgm:spPr/>
      <dgm:t>
        <a:bodyPr/>
        <a:lstStyle/>
        <a:p>
          <a:endParaRPr lang="en-US"/>
        </a:p>
      </dgm:t>
    </dgm:pt>
    <dgm:pt modelId="{A631A1A6-034B-4925-A3B6-CA836BA6C5AD}" type="sibTrans" cxnId="{91181B63-D280-4659-AFC4-F679CA38F7C8}">
      <dgm:prSet/>
      <dgm:spPr/>
      <dgm:t>
        <a:bodyPr/>
        <a:lstStyle/>
        <a:p>
          <a:endParaRPr lang="en-US" dirty="0"/>
        </a:p>
      </dgm:t>
    </dgm:pt>
    <dgm:pt modelId="{8030F519-1349-4704-980F-AF46B0E34EB4}">
      <dgm:prSet/>
      <dgm:spPr/>
      <dgm:t>
        <a:bodyPr/>
        <a:lstStyle/>
        <a:p>
          <a:r>
            <a:rPr lang="es-MX" dirty="0"/>
            <a:t>Semanas 7 - 10:</a:t>
          </a:r>
          <a:endParaRPr lang="en-US" dirty="0"/>
        </a:p>
      </dgm:t>
    </dgm:pt>
    <dgm:pt modelId="{DBCB3DDA-8D4D-475A-8750-D241618F1326}" type="parTrans" cxnId="{E1D2354E-06CA-4440-A38C-FA92B98ADE9C}">
      <dgm:prSet/>
      <dgm:spPr/>
      <dgm:t>
        <a:bodyPr/>
        <a:lstStyle/>
        <a:p>
          <a:endParaRPr lang="en-US"/>
        </a:p>
      </dgm:t>
    </dgm:pt>
    <dgm:pt modelId="{E8FC5CCF-FFF8-4C80-B5B1-3BA3C8215CE1}" type="sibTrans" cxnId="{E1D2354E-06CA-4440-A38C-FA92B98ADE9C}">
      <dgm:prSet/>
      <dgm:spPr/>
      <dgm:t>
        <a:bodyPr/>
        <a:lstStyle/>
        <a:p>
          <a:endParaRPr lang="en-US" dirty="0"/>
        </a:p>
      </dgm:t>
    </dgm:pt>
    <dgm:pt modelId="{32E2C931-3192-4739-B7EC-57C125A327CB}">
      <dgm:prSet/>
      <dgm:spPr/>
      <dgm:t>
        <a:bodyPr/>
        <a:lstStyle/>
        <a:p>
          <a:r>
            <a:rPr lang="es-MX" dirty="0"/>
            <a:t>Desarrollo del sistema en Python</a:t>
          </a:r>
          <a:endParaRPr lang="en-US" dirty="0"/>
        </a:p>
      </dgm:t>
    </dgm:pt>
    <dgm:pt modelId="{0262493D-CBD9-43AE-BE4A-254B1DFEA105}" type="parTrans" cxnId="{94CF8DD9-74A8-4636-A8D9-4D0310C28F45}">
      <dgm:prSet/>
      <dgm:spPr/>
      <dgm:t>
        <a:bodyPr/>
        <a:lstStyle/>
        <a:p>
          <a:endParaRPr lang="en-US"/>
        </a:p>
      </dgm:t>
    </dgm:pt>
    <dgm:pt modelId="{CF3EF292-2277-411D-A6A6-4D16A9DBDEA7}" type="sibTrans" cxnId="{94CF8DD9-74A8-4636-A8D9-4D0310C28F45}">
      <dgm:prSet/>
      <dgm:spPr/>
      <dgm:t>
        <a:bodyPr/>
        <a:lstStyle/>
        <a:p>
          <a:endParaRPr lang="en-US" dirty="0"/>
        </a:p>
      </dgm:t>
    </dgm:pt>
    <dgm:pt modelId="{F1F66909-D767-4F46-A606-074F90E20156}">
      <dgm:prSet/>
      <dgm:spPr/>
      <dgm:t>
        <a:bodyPr/>
        <a:lstStyle/>
        <a:p>
          <a:r>
            <a:rPr lang="es-MX" dirty="0"/>
            <a:t>Semanas 11 - 14:</a:t>
          </a:r>
          <a:endParaRPr lang="en-US" dirty="0"/>
        </a:p>
      </dgm:t>
    </dgm:pt>
    <dgm:pt modelId="{365A073D-489C-454B-8526-1E9775D9484D}" type="parTrans" cxnId="{93D3D07B-B403-4DD6-A4CC-CF3DF95E1802}">
      <dgm:prSet/>
      <dgm:spPr/>
      <dgm:t>
        <a:bodyPr/>
        <a:lstStyle/>
        <a:p>
          <a:endParaRPr lang="en-US"/>
        </a:p>
      </dgm:t>
    </dgm:pt>
    <dgm:pt modelId="{69A912D2-D55B-4B87-B8E3-9EE6F50D0EA4}" type="sibTrans" cxnId="{93D3D07B-B403-4DD6-A4CC-CF3DF95E1802}">
      <dgm:prSet/>
      <dgm:spPr/>
      <dgm:t>
        <a:bodyPr/>
        <a:lstStyle/>
        <a:p>
          <a:endParaRPr lang="en-US" dirty="0"/>
        </a:p>
      </dgm:t>
    </dgm:pt>
    <dgm:pt modelId="{FE3D0EF9-87F6-4E0B-981C-54BD4500F0E0}">
      <dgm:prSet/>
      <dgm:spPr/>
      <dgm:t>
        <a:bodyPr/>
        <a:lstStyle/>
        <a:p>
          <a:r>
            <a:rPr lang="es-MX" dirty="0"/>
            <a:t>Pruebas del sistema</a:t>
          </a:r>
          <a:endParaRPr lang="en-US" dirty="0"/>
        </a:p>
      </dgm:t>
    </dgm:pt>
    <dgm:pt modelId="{5BF82BC7-8939-45B7-A726-9ED787463A77}" type="parTrans" cxnId="{CCAB9EBC-B2EA-47DA-97E7-4383FAE10A27}">
      <dgm:prSet/>
      <dgm:spPr/>
      <dgm:t>
        <a:bodyPr/>
        <a:lstStyle/>
        <a:p>
          <a:endParaRPr lang="en-US"/>
        </a:p>
      </dgm:t>
    </dgm:pt>
    <dgm:pt modelId="{180C17C1-4589-42DB-B62E-1489AD70ACD9}" type="sibTrans" cxnId="{CCAB9EBC-B2EA-47DA-97E7-4383FAE10A27}">
      <dgm:prSet/>
      <dgm:spPr/>
      <dgm:t>
        <a:bodyPr/>
        <a:lstStyle/>
        <a:p>
          <a:endParaRPr lang="en-US" dirty="0"/>
        </a:p>
      </dgm:t>
    </dgm:pt>
    <dgm:pt modelId="{6CAA8A6C-3436-4F9E-B90C-398423599C27}">
      <dgm:prSet/>
      <dgm:spPr/>
      <dgm:t>
        <a:bodyPr/>
        <a:lstStyle/>
        <a:p>
          <a:r>
            <a:rPr lang="es-MX" dirty="0"/>
            <a:t>Semanas 15 - 16:</a:t>
          </a:r>
        </a:p>
        <a:p>
          <a:r>
            <a:rPr lang="es-MX" dirty="0"/>
            <a:t>Documentación del proyecto</a:t>
          </a:r>
          <a:endParaRPr lang="en-US" dirty="0"/>
        </a:p>
      </dgm:t>
    </dgm:pt>
    <dgm:pt modelId="{586B7353-E520-45FF-A1E1-A51E5DDFF956}" type="parTrans" cxnId="{2B8A4EF5-E60A-48C0-AFF1-1C78ECF6805E}">
      <dgm:prSet/>
      <dgm:spPr/>
      <dgm:t>
        <a:bodyPr/>
        <a:lstStyle/>
        <a:p>
          <a:endParaRPr lang="en-US"/>
        </a:p>
      </dgm:t>
    </dgm:pt>
    <dgm:pt modelId="{BAC5E280-CC79-4236-ABCC-9C91C46D064D}" type="sibTrans" cxnId="{2B8A4EF5-E60A-48C0-AFF1-1C78ECF6805E}">
      <dgm:prSet/>
      <dgm:spPr/>
      <dgm:t>
        <a:bodyPr/>
        <a:lstStyle/>
        <a:p>
          <a:endParaRPr lang="en-US" dirty="0"/>
        </a:p>
      </dgm:t>
    </dgm:pt>
    <dgm:pt modelId="{60AB1989-1F55-461C-9845-A94B8E5208E3}">
      <dgm:prSet/>
      <dgm:spPr/>
      <dgm:t>
        <a:bodyPr/>
        <a:lstStyle/>
        <a:p>
          <a:r>
            <a:rPr lang="es-MX" dirty="0"/>
            <a:t>Semanas 17 - 18:</a:t>
          </a:r>
        </a:p>
        <a:p>
          <a:r>
            <a:rPr lang="es-MX" dirty="0"/>
            <a:t>Elaboración de PPT y presentación final</a:t>
          </a:r>
          <a:endParaRPr lang="en-US" dirty="0"/>
        </a:p>
      </dgm:t>
    </dgm:pt>
    <dgm:pt modelId="{6F613966-A842-4858-BE3D-1862CE43B424}" type="parTrans" cxnId="{11948210-ACE8-4338-ABEF-6EC6612581A2}">
      <dgm:prSet/>
      <dgm:spPr/>
      <dgm:t>
        <a:bodyPr/>
        <a:lstStyle/>
        <a:p>
          <a:endParaRPr lang="en-US"/>
        </a:p>
      </dgm:t>
    </dgm:pt>
    <dgm:pt modelId="{CE666A54-AD6D-4278-9B92-4874FD223E17}" type="sibTrans" cxnId="{11948210-ACE8-4338-ABEF-6EC6612581A2}">
      <dgm:prSet/>
      <dgm:spPr/>
      <dgm:t>
        <a:bodyPr/>
        <a:lstStyle/>
        <a:p>
          <a:endParaRPr lang="en-US"/>
        </a:p>
      </dgm:t>
    </dgm:pt>
    <dgm:pt modelId="{D99605E0-BBAA-4290-8473-240C48C4F2E9}" type="pres">
      <dgm:prSet presAssocID="{DFA683CE-DDD9-4C6A-89C3-E5655AB799CF}" presName="Name0" presStyleCnt="0">
        <dgm:presLayoutVars>
          <dgm:dir/>
          <dgm:resizeHandles val="exact"/>
        </dgm:presLayoutVars>
      </dgm:prSet>
      <dgm:spPr/>
    </dgm:pt>
    <dgm:pt modelId="{69FA23F7-DF55-4F62-8CD9-6740DEDEABC4}" type="pres">
      <dgm:prSet presAssocID="{ACFCC5F5-921A-43E3-B2E7-AEEF5F26E2E5}" presName="node" presStyleLbl="node1" presStyleIdx="0" presStyleCnt="10">
        <dgm:presLayoutVars>
          <dgm:bulletEnabled val="1"/>
        </dgm:presLayoutVars>
      </dgm:prSet>
      <dgm:spPr/>
    </dgm:pt>
    <dgm:pt modelId="{B08C0493-E3C6-4828-81E8-8C26C5DFDB21}" type="pres">
      <dgm:prSet presAssocID="{AD402BA4-9E01-4953-94CF-FE7759F29DF4}" presName="sibTrans" presStyleLbl="sibTrans1D1" presStyleIdx="0" presStyleCnt="9"/>
      <dgm:spPr/>
    </dgm:pt>
    <dgm:pt modelId="{A78F1B29-5C0B-4218-BBF3-77C4E9716EC8}" type="pres">
      <dgm:prSet presAssocID="{AD402BA4-9E01-4953-94CF-FE7759F29DF4}" presName="connectorText" presStyleLbl="sibTrans1D1" presStyleIdx="0" presStyleCnt="9"/>
      <dgm:spPr/>
    </dgm:pt>
    <dgm:pt modelId="{40A918B3-21B2-473A-8F3C-86014C4EFCFD}" type="pres">
      <dgm:prSet presAssocID="{CEC21950-781F-4BD5-9C45-ED88E19F3B2E}" presName="node" presStyleLbl="node1" presStyleIdx="1" presStyleCnt="10">
        <dgm:presLayoutVars>
          <dgm:bulletEnabled val="1"/>
        </dgm:presLayoutVars>
      </dgm:prSet>
      <dgm:spPr/>
    </dgm:pt>
    <dgm:pt modelId="{79F573FD-D25A-4996-B873-26AACD7D0366}" type="pres">
      <dgm:prSet presAssocID="{6AB0A904-70BB-4FE9-B42E-B107B4EDD57B}" presName="sibTrans" presStyleLbl="sibTrans1D1" presStyleIdx="1" presStyleCnt="9"/>
      <dgm:spPr/>
    </dgm:pt>
    <dgm:pt modelId="{1074BFEF-DE4E-4CA8-BA9C-2CD5996F160A}" type="pres">
      <dgm:prSet presAssocID="{6AB0A904-70BB-4FE9-B42E-B107B4EDD57B}" presName="connectorText" presStyleLbl="sibTrans1D1" presStyleIdx="1" presStyleCnt="9"/>
      <dgm:spPr/>
    </dgm:pt>
    <dgm:pt modelId="{183F4EEB-AF90-4157-9A16-8596B801AF78}" type="pres">
      <dgm:prSet presAssocID="{604E2BD3-599C-4C6C-B373-D4026BC62C86}" presName="node" presStyleLbl="node1" presStyleIdx="2" presStyleCnt="10">
        <dgm:presLayoutVars>
          <dgm:bulletEnabled val="1"/>
        </dgm:presLayoutVars>
      </dgm:prSet>
      <dgm:spPr/>
    </dgm:pt>
    <dgm:pt modelId="{F358C570-1DE1-4969-AB0F-6F7245AF58A3}" type="pres">
      <dgm:prSet presAssocID="{D801CBD6-74E1-4ADB-96C8-E300F3EB8CBE}" presName="sibTrans" presStyleLbl="sibTrans1D1" presStyleIdx="2" presStyleCnt="9"/>
      <dgm:spPr/>
    </dgm:pt>
    <dgm:pt modelId="{019FFDBB-6840-46E8-9E0D-954378ABC454}" type="pres">
      <dgm:prSet presAssocID="{D801CBD6-74E1-4ADB-96C8-E300F3EB8CBE}" presName="connectorText" presStyleLbl="sibTrans1D1" presStyleIdx="2" presStyleCnt="9"/>
      <dgm:spPr/>
    </dgm:pt>
    <dgm:pt modelId="{BFD5F739-0999-4063-82EA-8B64BCEF07F6}" type="pres">
      <dgm:prSet presAssocID="{A269E13E-F57F-4B15-900E-B62ABB775C4A}" presName="node" presStyleLbl="node1" presStyleIdx="3" presStyleCnt="10">
        <dgm:presLayoutVars>
          <dgm:bulletEnabled val="1"/>
        </dgm:presLayoutVars>
      </dgm:prSet>
      <dgm:spPr/>
    </dgm:pt>
    <dgm:pt modelId="{25AC6246-2FAE-4E58-A564-CC53A1899DD8}" type="pres">
      <dgm:prSet presAssocID="{A631A1A6-034B-4925-A3B6-CA836BA6C5AD}" presName="sibTrans" presStyleLbl="sibTrans1D1" presStyleIdx="3" presStyleCnt="9"/>
      <dgm:spPr/>
    </dgm:pt>
    <dgm:pt modelId="{2BC5F345-A852-43F7-80CD-39EE5F9707D8}" type="pres">
      <dgm:prSet presAssocID="{A631A1A6-034B-4925-A3B6-CA836BA6C5AD}" presName="connectorText" presStyleLbl="sibTrans1D1" presStyleIdx="3" presStyleCnt="9"/>
      <dgm:spPr/>
    </dgm:pt>
    <dgm:pt modelId="{48CE3E4B-9AFE-4149-AA1C-A133C3DCBB70}" type="pres">
      <dgm:prSet presAssocID="{8030F519-1349-4704-980F-AF46B0E34EB4}" presName="node" presStyleLbl="node1" presStyleIdx="4" presStyleCnt="10">
        <dgm:presLayoutVars>
          <dgm:bulletEnabled val="1"/>
        </dgm:presLayoutVars>
      </dgm:prSet>
      <dgm:spPr/>
    </dgm:pt>
    <dgm:pt modelId="{7A48B885-3083-4406-9DEE-0978644FD410}" type="pres">
      <dgm:prSet presAssocID="{E8FC5CCF-FFF8-4C80-B5B1-3BA3C8215CE1}" presName="sibTrans" presStyleLbl="sibTrans1D1" presStyleIdx="4" presStyleCnt="9"/>
      <dgm:spPr/>
    </dgm:pt>
    <dgm:pt modelId="{FE7C6050-A363-4744-A098-6611D518F5C4}" type="pres">
      <dgm:prSet presAssocID="{E8FC5CCF-FFF8-4C80-B5B1-3BA3C8215CE1}" presName="connectorText" presStyleLbl="sibTrans1D1" presStyleIdx="4" presStyleCnt="9"/>
      <dgm:spPr/>
    </dgm:pt>
    <dgm:pt modelId="{DF7A0702-9C64-4712-828A-93F3F2B2F86A}" type="pres">
      <dgm:prSet presAssocID="{32E2C931-3192-4739-B7EC-57C125A327CB}" presName="node" presStyleLbl="node1" presStyleIdx="5" presStyleCnt="10">
        <dgm:presLayoutVars>
          <dgm:bulletEnabled val="1"/>
        </dgm:presLayoutVars>
      </dgm:prSet>
      <dgm:spPr/>
    </dgm:pt>
    <dgm:pt modelId="{06565269-EDA1-4606-BC2A-02F50E852F35}" type="pres">
      <dgm:prSet presAssocID="{CF3EF292-2277-411D-A6A6-4D16A9DBDEA7}" presName="sibTrans" presStyleLbl="sibTrans1D1" presStyleIdx="5" presStyleCnt="9"/>
      <dgm:spPr/>
    </dgm:pt>
    <dgm:pt modelId="{CA678F0C-67B4-4FBF-924B-B615F2AD715C}" type="pres">
      <dgm:prSet presAssocID="{CF3EF292-2277-411D-A6A6-4D16A9DBDEA7}" presName="connectorText" presStyleLbl="sibTrans1D1" presStyleIdx="5" presStyleCnt="9"/>
      <dgm:spPr/>
    </dgm:pt>
    <dgm:pt modelId="{30BF1E65-AB74-4ADD-88F9-5B4C0F787635}" type="pres">
      <dgm:prSet presAssocID="{F1F66909-D767-4F46-A606-074F90E20156}" presName="node" presStyleLbl="node1" presStyleIdx="6" presStyleCnt="10">
        <dgm:presLayoutVars>
          <dgm:bulletEnabled val="1"/>
        </dgm:presLayoutVars>
      </dgm:prSet>
      <dgm:spPr/>
    </dgm:pt>
    <dgm:pt modelId="{AA2359E9-DD5E-4460-BEC1-A906CC0F4CCA}" type="pres">
      <dgm:prSet presAssocID="{69A912D2-D55B-4B87-B8E3-9EE6F50D0EA4}" presName="sibTrans" presStyleLbl="sibTrans1D1" presStyleIdx="6" presStyleCnt="9"/>
      <dgm:spPr/>
    </dgm:pt>
    <dgm:pt modelId="{D504A9EC-7BEA-4143-9544-27849E14CA96}" type="pres">
      <dgm:prSet presAssocID="{69A912D2-D55B-4B87-B8E3-9EE6F50D0EA4}" presName="connectorText" presStyleLbl="sibTrans1D1" presStyleIdx="6" presStyleCnt="9"/>
      <dgm:spPr/>
    </dgm:pt>
    <dgm:pt modelId="{4D1C75F3-EDC1-4EA4-91AB-2A92085B3DE9}" type="pres">
      <dgm:prSet presAssocID="{FE3D0EF9-87F6-4E0B-981C-54BD4500F0E0}" presName="node" presStyleLbl="node1" presStyleIdx="7" presStyleCnt="10">
        <dgm:presLayoutVars>
          <dgm:bulletEnabled val="1"/>
        </dgm:presLayoutVars>
      </dgm:prSet>
      <dgm:spPr/>
    </dgm:pt>
    <dgm:pt modelId="{1A81786E-6C48-43DA-B8C1-073A79AD0419}" type="pres">
      <dgm:prSet presAssocID="{180C17C1-4589-42DB-B62E-1489AD70ACD9}" presName="sibTrans" presStyleLbl="sibTrans1D1" presStyleIdx="7" presStyleCnt="9"/>
      <dgm:spPr/>
    </dgm:pt>
    <dgm:pt modelId="{AFBF9336-6884-4D30-955A-AE3D200131B5}" type="pres">
      <dgm:prSet presAssocID="{180C17C1-4589-42DB-B62E-1489AD70ACD9}" presName="connectorText" presStyleLbl="sibTrans1D1" presStyleIdx="7" presStyleCnt="9"/>
      <dgm:spPr/>
    </dgm:pt>
    <dgm:pt modelId="{147904DC-7697-4A8F-97AC-66CB0E1D54A1}" type="pres">
      <dgm:prSet presAssocID="{6CAA8A6C-3436-4F9E-B90C-398423599C27}" presName="node" presStyleLbl="node1" presStyleIdx="8" presStyleCnt="10">
        <dgm:presLayoutVars>
          <dgm:bulletEnabled val="1"/>
        </dgm:presLayoutVars>
      </dgm:prSet>
      <dgm:spPr/>
    </dgm:pt>
    <dgm:pt modelId="{E13EB42A-8015-4C42-B972-E19318DC3697}" type="pres">
      <dgm:prSet presAssocID="{BAC5E280-CC79-4236-ABCC-9C91C46D064D}" presName="sibTrans" presStyleLbl="sibTrans1D1" presStyleIdx="8" presStyleCnt="9"/>
      <dgm:spPr/>
    </dgm:pt>
    <dgm:pt modelId="{48F5D058-6238-41F9-AADB-6B42BC8C9A96}" type="pres">
      <dgm:prSet presAssocID="{BAC5E280-CC79-4236-ABCC-9C91C46D064D}" presName="connectorText" presStyleLbl="sibTrans1D1" presStyleIdx="8" presStyleCnt="9"/>
      <dgm:spPr/>
    </dgm:pt>
    <dgm:pt modelId="{731C8FB7-0120-4855-825B-2FD8EEC37E31}" type="pres">
      <dgm:prSet presAssocID="{60AB1989-1F55-461C-9845-A94B8E5208E3}" presName="node" presStyleLbl="node1" presStyleIdx="9" presStyleCnt="10">
        <dgm:presLayoutVars>
          <dgm:bulletEnabled val="1"/>
        </dgm:presLayoutVars>
      </dgm:prSet>
      <dgm:spPr/>
    </dgm:pt>
  </dgm:ptLst>
  <dgm:cxnLst>
    <dgm:cxn modelId="{11948210-ACE8-4338-ABEF-6EC6612581A2}" srcId="{DFA683CE-DDD9-4C6A-89C3-E5655AB799CF}" destId="{60AB1989-1F55-461C-9845-A94B8E5208E3}" srcOrd="9" destOrd="0" parTransId="{6F613966-A842-4858-BE3D-1862CE43B424}" sibTransId="{CE666A54-AD6D-4278-9B92-4874FD223E17}"/>
    <dgm:cxn modelId="{F4A53712-8FFB-447C-8898-1644059E49EF}" type="presOf" srcId="{CEC21950-781F-4BD5-9C45-ED88E19F3B2E}" destId="{40A918B3-21B2-473A-8F3C-86014C4EFCFD}" srcOrd="0" destOrd="0" presId="urn:microsoft.com/office/officeart/2016/7/layout/RepeatingBendingProcessNew"/>
    <dgm:cxn modelId="{5E8D4D25-988E-428F-BA03-83CDF3B3D5B0}" type="presOf" srcId="{DFA683CE-DDD9-4C6A-89C3-E5655AB799CF}" destId="{D99605E0-BBAA-4290-8473-240C48C4F2E9}" srcOrd="0" destOrd="0" presId="urn:microsoft.com/office/officeart/2016/7/layout/RepeatingBendingProcessNew"/>
    <dgm:cxn modelId="{2F0BDB25-9F66-41A6-9011-D45728FBFFC4}" type="presOf" srcId="{8030F519-1349-4704-980F-AF46B0E34EB4}" destId="{48CE3E4B-9AFE-4149-AA1C-A133C3DCBB70}" srcOrd="0" destOrd="0" presId="urn:microsoft.com/office/officeart/2016/7/layout/RepeatingBendingProcessNew"/>
    <dgm:cxn modelId="{33489138-40FA-46C9-BD30-1CF8479C34A2}" type="presOf" srcId="{180C17C1-4589-42DB-B62E-1489AD70ACD9}" destId="{AFBF9336-6884-4D30-955A-AE3D200131B5}" srcOrd="1" destOrd="0" presId="urn:microsoft.com/office/officeart/2016/7/layout/RepeatingBendingProcessNew"/>
    <dgm:cxn modelId="{BD32B43D-DE06-4D94-A098-2B6694A3D500}" type="presOf" srcId="{ACFCC5F5-921A-43E3-B2E7-AEEF5F26E2E5}" destId="{69FA23F7-DF55-4F62-8CD9-6740DEDEABC4}" srcOrd="0" destOrd="0" presId="urn:microsoft.com/office/officeart/2016/7/layout/RepeatingBendingProcessNew"/>
    <dgm:cxn modelId="{91181B63-D280-4659-AFC4-F679CA38F7C8}" srcId="{DFA683CE-DDD9-4C6A-89C3-E5655AB799CF}" destId="{A269E13E-F57F-4B15-900E-B62ABB775C4A}" srcOrd="3" destOrd="0" parTransId="{17F58702-EDC1-4649-B63D-79FEB5635733}" sibTransId="{A631A1A6-034B-4925-A3B6-CA836BA6C5AD}"/>
    <dgm:cxn modelId="{7D22CC47-3FDD-4A6B-A1DA-2E80291FE01F}" type="presOf" srcId="{D801CBD6-74E1-4ADB-96C8-E300F3EB8CBE}" destId="{F358C570-1DE1-4969-AB0F-6F7245AF58A3}" srcOrd="0" destOrd="0" presId="urn:microsoft.com/office/officeart/2016/7/layout/RepeatingBendingProcessNew"/>
    <dgm:cxn modelId="{2FBFD867-8649-49A0-85E6-FB3FECAE4D0D}" type="presOf" srcId="{AD402BA4-9E01-4953-94CF-FE7759F29DF4}" destId="{A78F1B29-5C0B-4218-BBF3-77C4E9716EC8}" srcOrd="1" destOrd="0" presId="urn:microsoft.com/office/officeart/2016/7/layout/RepeatingBendingProcessNew"/>
    <dgm:cxn modelId="{D6625D48-9968-4295-81DD-2A62B02E0C85}" srcId="{DFA683CE-DDD9-4C6A-89C3-E5655AB799CF}" destId="{ACFCC5F5-921A-43E3-B2E7-AEEF5F26E2E5}" srcOrd="0" destOrd="0" parTransId="{52483A90-6DCB-40CD-8576-34A45671E99E}" sibTransId="{AD402BA4-9E01-4953-94CF-FE7759F29DF4}"/>
    <dgm:cxn modelId="{CB3F8748-A4D1-4017-8D83-8006EB8C77A8}" type="presOf" srcId="{604E2BD3-599C-4C6C-B373-D4026BC62C86}" destId="{183F4EEB-AF90-4157-9A16-8596B801AF78}" srcOrd="0" destOrd="0" presId="urn:microsoft.com/office/officeart/2016/7/layout/RepeatingBendingProcessNew"/>
    <dgm:cxn modelId="{AD94144A-7D3B-4919-BCB5-D7E2B4716FB9}" type="presOf" srcId="{FE3D0EF9-87F6-4E0B-981C-54BD4500F0E0}" destId="{4D1C75F3-EDC1-4EA4-91AB-2A92085B3DE9}" srcOrd="0" destOrd="0" presId="urn:microsoft.com/office/officeart/2016/7/layout/RepeatingBendingProcessNew"/>
    <dgm:cxn modelId="{A25CFD6C-3E99-444E-80D2-92E195CDD415}" type="presOf" srcId="{D801CBD6-74E1-4ADB-96C8-E300F3EB8CBE}" destId="{019FFDBB-6840-46E8-9E0D-954378ABC454}" srcOrd="1" destOrd="0" presId="urn:microsoft.com/office/officeart/2016/7/layout/RepeatingBendingProcessNew"/>
    <dgm:cxn modelId="{70F82D4E-9EAA-41F7-AEC3-76132EABDCB1}" srcId="{DFA683CE-DDD9-4C6A-89C3-E5655AB799CF}" destId="{CEC21950-781F-4BD5-9C45-ED88E19F3B2E}" srcOrd="1" destOrd="0" parTransId="{3FF1BAAB-C084-499B-8653-51C604AD4338}" sibTransId="{6AB0A904-70BB-4FE9-B42E-B107B4EDD57B}"/>
    <dgm:cxn modelId="{E1D2354E-06CA-4440-A38C-FA92B98ADE9C}" srcId="{DFA683CE-DDD9-4C6A-89C3-E5655AB799CF}" destId="{8030F519-1349-4704-980F-AF46B0E34EB4}" srcOrd="4" destOrd="0" parTransId="{DBCB3DDA-8D4D-475A-8750-D241618F1326}" sibTransId="{E8FC5CCF-FFF8-4C80-B5B1-3BA3C8215CE1}"/>
    <dgm:cxn modelId="{4D9C4A53-CA47-4A9E-B521-BD47C917656A}" type="presOf" srcId="{A631A1A6-034B-4925-A3B6-CA836BA6C5AD}" destId="{25AC6246-2FAE-4E58-A564-CC53A1899DD8}" srcOrd="0" destOrd="0" presId="urn:microsoft.com/office/officeart/2016/7/layout/RepeatingBendingProcessNew"/>
    <dgm:cxn modelId="{DC38DB74-AE17-4C0C-9000-088E097BC6FF}" type="presOf" srcId="{180C17C1-4589-42DB-B62E-1489AD70ACD9}" destId="{1A81786E-6C48-43DA-B8C1-073A79AD0419}" srcOrd="0" destOrd="0" presId="urn:microsoft.com/office/officeart/2016/7/layout/RepeatingBendingProcessNew"/>
    <dgm:cxn modelId="{81AF5076-BB6C-4069-950C-0C85FE459978}" type="presOf" srcId="{AD402BA4-9E01-4953-94CF-FE7759F29DF4}" destId="{B08C0493-E3C6-4828-81E8-8C26C5DFDB21}" srcOrd="0" destOrd="0" presId="urn:microsoft.com/office/officeart/2016/7/layout/RepeatingBendingProcessNew"/>
    <dgm:cxn modelId="{601DFF77-6BF0-4C0C-BB5E-7DD7D39BE643}" type="presOf" srcId="{6AB0A904-70BB-4FE9-B42E-B107B4EDD57B}" destId="{79F573FD-D25A-4996-B873-26AACD7D0366}" srcOrd="0" destOrd="0" presId="urn:microsoft.com/office/officeart/2016/7/layout/RepeatingBendingProcessNew"/>
    <dgm:cxn modelId="{93D3D07B-B403-4DD6-A4CC-CF3DF95E1802}" srcId="{DFA683CE-DDD9-4C6A-89C3-E5655AB799CF}" destId="{F1F66909-D767-4F46-A606-074F90E20156}" srcOrd="6" destOrd="0" parTransId="{365A073D-489C-454B-8526-1E9775D9484D}" sibTransId="{69A912D2-D55B-4B87-B8E3-9EE6F50D0EA4}"/>
    <dgm:cxn modelId="{CF65D97F-E7D7-42CD-BD97-496FE846CA0A}" type="presOf" srcId="{E8FC5CCF-FFF8-4C80-B5B1-3BA3C8215CE1}" destId="{7A48B885-3083-4406-9DEE-0978644FD410}" srcOrd="0" destOrd="0" presId="urn:microsoft.com/office/officeart/2016/7/layout/RepeatingBendingProcessNew"/>
    <dgm:cxn modelId="{5889A986-9383-4821-B05C-38184CE58F39}" type="presOf" srcId="{69A912D2-D55B-4B87-B8E3-9EE6F50D0EA4}" destId="{D504A9EC-7BEA-4143-9544-27849E14CA96}" srcOrd="1" destOrd="0" presId="urn:microsoft.com/office/officeart/2016/7/layout/RepeatingBendingProcessNew"/>
    <dgm:cxn modelId="{987BA5A5-F85F-4276-AE38-D09C25BBE783}" srcId="{DFA683CE-DDD9-4C6A-89C3-E5655AB799CF}" destId="{604E2BD3-599C-4C6C-B373-D4026BC62C86}" srcOrd="2" destOrd="0" parTransId="{B7BD362D-0085-4E5C-A6B4-993AEAC8827D}" sibTransId="{D801CBD6-74E1-4ADB-96C8-E300F3EB8CBE}"/>
    <dgm:cxn modelId="{B1FB10B0-EF0F-4503-A543-78B5F55A790D}" type="presOf" srcId="{E8FC5CCF-FFF8-4C80-B5B1-3BA3C8215CE1}" destId="{FE7C6050-A363-4744-A098-6611D518F5C4}" srcOrd="1" destOrd="0" presId="urn:microsoft.com/office/officeart/2016/7/layout/RepeatingBendingProcessNew"/>
    <dgm:cxn modelId="{8E011CB5-4D51-4B2D-A7C2-F534C9A48616}" type="presOf" srcId="{69A912D2-D55B-4B87-B8E3-9EE6F50D0EA4}" destId="{AA2359E9-DD5E-4460-BEC1-A906CC0F4CCA}" srcOrd="0" destOrd="0" presId="urn:microsoft.com/office/officeart/2016/7/layout/RepeatingBendingProcessNew"/>
    <dgm:cxn modelId="{983980BA-A0E3-4F47-AAA8-2F4DF3B8D9E9}" type="presOf" srcId="{BAC5E280-CC79-4236-ABCC-9C91C46D064D}" destId="{48F5D058-6238-41F9-AADB-6B42BC8C9A96}" srcOrd="1" destOrd="0" presId="urn:microsoft.com/office/officeart/2016/7/layout/RepeatingBendingProcessNew"/>
    <dgm:cxn modelId="{CCAB9EBC-B2EA-47DA-97E7-4383FAE10A27}" srcId="{DFA683CE-DDD9-4C6A-89C3-E5655AB799CF}" destId="{FE3D0EF9-87F6-4E0B-981C-54BD4500F0E0}" srcOrd="7" destOrd="0" parTransId="{5BF82BC7-8939-45B7-A726-9ED787463A77}" sibTransId="{180C17C1-4589-42DB-B62E-1489AD70ACD9}"/>
    <dgm:cxn modelId="{7DC6D2C4-AEB2-4445-995B-F18C8B48A6B5}" type="presOf" srcId="{CF3EF292-2277-411D-A6A6-4D16A9DBDEA7}" destId="{06565269-EDA1-4606-BC2A-02F50E852F35}" srcOrd="0" destOrd="0" presId="urn:microsoft.com/office/officeart/2016/7/layout/RepeatingBendingProcessNew"/>
    <dgm:cxn modelId="{009851CB-1C21-4070-8772-07A668B7169C}" type="presOf" srcId="{6AB0A904-70BB-4FE9-B42E-B107B4EDD57B}" destId="{1074BFEF-DE4E-4CA8-BA9C-2CD5996F160A}" srcOrd="1" destOrd="0" presId="urn:microsoft.com/office/officeart/2016/7/layout/RepeatingBendingProcessNew"/>
    <dgm:cxn modelId="{D1A09FD6-C396-4CA6-BAC6-DBFD9BDD87E8}" type="presOf" srcId="{CF3EF292-2277-411D-A6A6-4D16A9DBDEA7}" destId="{CA678F0C-67B4-4FBF-924B-B615F2AD715C}" srcOrd="1" destOrd="0" presId="urn:microsoft.com/office/officeart/2016/7/layout/RepeatingBendingProcessNew"/>
    <dgm:cxn modelId="{94CF8DD9-74A8-4636-A8D9-4D0310C28F45}" srcId="{DFA683CE-DDD9-4C6A-89C3-E5655AB799CF}" destId="{32E2C931-3192-4739-B7EC-57C125A327CB}" srcOrd="5" destOrd="0" parTransId="{0262493D-CBD9-43AE-BE4A-254B1DFEA105}" sibTransId="{CF3EF292-2277-411D-A6A6-4D16A9DBDEA7}"/>
    <dgm:cxn modelId="{2913B1DC-8AD7-412B-947C-1941817BFD6D}" type="presOf" srcId="{A631A1A6-034B-4925-A3B6-CA836BA6C5AD}" destId="{2BC5F345-A852-43F7-80CD-39EE5F9707D8}" srcOrd="1" destOrd="0" presId="urn:microsoft.com/office/officeart/2016/7/layout/RepeatingBendingProcessNew"/>
    <dgm:cxn modelId="{5E9742DF-9D50-49E3-A78F-6897C8C3AAA6}" type="presOf" srcId="{6CAA8A6C-3436-4F9E-B90C-398423599C27}" destId="{147904DC-7697-4A8F-97AC-66CB0E1D54A1}" srcOrd="0" destOrd="0" presId="urn:microsoft.com/office/officeart/2016/7/layout/RepeatingBendingProcessNew"/>
    <dgm:cxn modelId="{11A750E4-A120-434F-BA9C-4F9D0562ED46}" type="presOf" srcId="{60AB1989-1F55-461C-9845-A94B8E5208E3}" destId="{731C8FB7-0120-4855-825B-2FD8EEC37E31}" srcOrd="0" destOrd="0" presId="urn:microsoft.com/office/officeart/2016/7/layout/RepeatingBendingProcessNew"/>
    <dgm:cxn modelId="{F0F0E7ED-4141-4582-B689-E333A89E993A}" type="presOf" srcId="{F1F66909-D767-4F46-A606-074F90E20156}" destId="{30BF1E65-AB74-4ADD-88F9-5B4C0F787635}" srcOrd="0" destOrd="0" presId="urn:microsoft.com/office/officeart/2016/7/layout/RepeatingBendingProcessNew"/>
    <dgm:cxn modelId="{839164F0-497E-4FD4-966D-399E29074D0C}" type="presOf" srcId="{32E2C931-3192-4739-B7EC-57C125A327CB}" destId="{DF7A0702-9C64-4712-828A-93F3F2B2F86A}" srcOrd="0" destOrd="0" presId="urn:microsoft.com/office/officeart/2016/7/layout/RepeatingBendingProcessNew"/>
    <dgm:cxn modelId="{2B8A4EF5-E60A-48C0-AFF1-1C78ECF6805E}" srcId="{DFA683CE-DDD9-4C6A-89C3-E5655AB799CF}" destId="{6CAA8A6C-3436-4F9E-B90C-398423599C27}" srcOrd="8" destOrd="0" parTransId="{586B7353-E520-45FF-A1E1-A51E5DDFF956}" sibTransId="{BAC5E280-CC79-4236-ABCC-9C91C46D064D}"/>
    <dgm:cxn modelId="{991923FA-023F-4F62-8C82-5BCD3D46887E}" type="presOf" srcId="{A269E13E-F57F-4B15-900E-B62ABB775C4A}" destId="{BFD5F739-0999-4063-82EA-8B64BCEF07F6}" srcOrd="0" destOrd="0" presId="urn:microsoft.com/office/officeart/2016/7/layout/RepeatingBendingProcessNew"/>
    <dgm:cxn modelId="{7EF1D0FC-FFD0-4135-8942-4BB3DABFC9FC}" type="presOf" srcId="{BAC5E280-CC79-4236-ABCC-9C91C46D064D}" destId="{E13EB42A-8015-4C42-B972-E19318DC3697}" srcOrd="0" destOrd="0" presId="urn:microsoft.com/office/officeart/2016/7/layout/RepeatingBendingProcessNew"/>
    <dgm:cxn modelId="{E5D14EB6-A80A-4996-BD8C-150342C3A684}" type="presParOf" srcId="{D99605E0-BBAA-4290-8473-240C48C4F2E9}" destId="{69FA23F7-DF55-4F62-8CD9-6740DEDEABC4}" srcOrd="0" destOrd="0" presId="urn:microsoft.com/office/officeart/2016/7/layout/RepeatingBendingProcessNew"/>
    <dgm:cxn modelId="{742C8DD0-9D9D-479B-A274-CF62847B74B3}" type="presParOf" srcId="{D99605E0-BBAA-4290-8473-240C48C4F2E9}" destId="{B08C0493-E3C6-4828-81E8-8C26C5DFDB21}" srcOrd="1" destOrd="0" presId="urn:microsoft.com/office/officeart/2016/7/layout/RepeatingBendingProcessNew"/>
    <dgm:cxn modelId="{8B1D754B-393B-410D-8894-F165ACD68FF5}" type="presParOf" srcId="{B08C0493-E3C6-4828-81E8-8C26C5DFDB21}" destId="{A78F1B29-5C0B-4218-BBF3-77C4E9716EC8}" srcOrd="0" destOrd="0" presId="urn:microsoft.com/office/officeart/2016/7/layout/RepeatingBendingProcessNew"/>
    <dgm:cxn modelId="{746651BA-A8EA-4276-BAF7-C8539F0073B2}" type="presParOf" srcId="{D99605E0-BBAA-4290-8473-240C48C4F2E9}" destId="{40A918B3-21B2-473A-8F3C-86014C4EFCFD}" srcOrd="2" destOrd="0" presId="urn:microsoft.com/office/officeart/2016/7/layout/RepeatingBendingProcessNew"/>
    <dgm:cxn modelId="{CF0C76F3-A946-42A2-8258-8F01098C29C3}" type="presParOf" srcId="{D99605E0-BBAA-4290-8473-240C48C4F2E9}" destId="{79F573FD-D25A-4996-B873-26AACD7D0366}" srcOrd="3" destOrd="0" presId="urn:microsoft.com/office/officeart/2016/7/layout/RepeatingBendingProcessNew"/>
    <dgm:cxn modelId="{BD56BC53-C9EA-4876-B54E-FB31751D8040}" type="presParOf" srcId="{79F573FD-D25A-4996-B873-26AACD7D0366}" destId="{1074BFEF-DE4E-4CA8-BA9C-2CD5996F160A}" srcOrd="0" destOrd="0" presId="urn:microsoft.com/office/officeart/2016/7/layout/RepeatingBendingProcessNew"/>
    <dgm:cxn modelId="{00AA45BD-9869-4772-A32C-75D437EBC478}" type="presParOf" srcId="{D99605E0-BBAA-4290-8473-240C48C4F2E9}" destId="{183F4EEB-AF90-4157-9A16-8596B801AF78}" srcOrd="4" destOrd="0" presId="urn:microsoft.com/office/officeart/2016/7/layout/RepeatingBendingProcessNew"/>
    <dgm:cxn modelId="{180D2304-CC0A-4852-A8EE-38736FDD3E33}" type="presParOf" srcId="{D99605E0-BBAA-4290-8473-240C48C4F2E9}" destId="{F358C570-1DE1-4969-AB0F-6F7245AF58A3}" srcOrd="5" destOrd="0" presId="urn:microsoft.com/office/officeart/2016/7/layout/RepeatingBendingProcessNew"/>
    <dgm:cxn modelId="{E3EC6010-7854-4135-A6A8-689325F01BA4}" type="presParOf" srcId="{F358C570-1DE1-4969-AB0F-6F7245AF58A3}" destId="{019FFDBB-6840-46E8-9E0D-954378ABC454}" srcOrd="0" destOrd="0" presId="urn:microsoft.com/office/officeart/2016/7/layout/RepeatingBendingProcessNew"/>
    <dgm:cxn modelId="{E20C5EA4-1219-464A-B582-011D0C9A1643}" type="presParOf" srcId="{D99605E0-BBAA-4290-8473-240C48C4F2E9}" destId="{BFD5F739-0999-4063-82EA-8B64BCEF07F6}" srcOrd="6" destOrd="0" presId="urn:microsoft.com/office/officeart/2016/7/layout/RepeatingBendingProcessNew"/>
    <dgm:cxn modelId="{7DFB8C88-294C-41D0-9B41-C53552F00177}" type="presParOf" srcId="{D99605E0-BBAA-4290-8473-240C48C4F2E9}" destId="{25AC6246-2FAE-4E58-A564-CC53A1899DD8}" srcOrd="7" destOrd="0" presId="urn:microsoft.com/office/officeart/2016/7/layout/RepeatingBendingProcessNew"/>
    <dgm:cxn modelId="{3DB9039D-481E-4FFC-9E25-8745B0C4C475}" type="presParOf" srcId="{25AC6246-2FAE-4E58-A564-CC53A1899DD8}" destId="{2BC5F345-A852-43F7-80CD-39EE5F9707D8}" srcOrd="0" destOrd="0" presId="urn:microsoft.com/office/officeart/2016/7/layout/RepeatingBendingProcessNew"/>
    <dgm:cxn modelId="{016C0E23-718D-410A-9CCD-C95507966C20}" type="presParOf" srcId="{D99605E0-BBAA-4290-8473-240C48C4F2E9}" destId="{48CE3E4B-9AFE-4149-AA1C-A133C3DCBB70}" srcOrd="8" destOrd="0" presId="urn:microsoft.com/office/officeart/2016/7/layout/RepeatingBendingProcessNew"/>
    <dgm:cxn modelId="{B60D9572-DB02-45F5-8C29-01F88AC28A22}" type="presParOf" srcId="{D99605E0-BBAA-4290-8473-240C48C4F2E9}" destId="{7A48B885-3083-4406-9DEE-0978644FD410}" srcOrd="9" destOrd="0" presId="urn:microsoft.com/office/officeart/2016/7/layout/RepeatingBendingProcessNew"/>
    <dgm:cxn modelId="{DCAD2C83-9781-4245-8BDC-0D7AFBD4B7AC}" type="presParOf" srcId="{7A48B885-3083-4406-9DEE-0978644FD410}" destId="{FE7C6050-A363-4744-A098-6611D518F5C4}" srcOrd="0" destOrd="0" presId="urn:microsoft.com/office/officeart/2016/7/layout/RepeatingBendingProcessNew"/>
    <dgm:cxn modelId="{8169DDA5-0F0C-466A-B878-248E61233BC9}" type="presParOf" srcId="{D99605E0-BBAA-4290-8473-240C48C4F2E9}" destId="{DF7A0702-9C64-4712-828A-93F3F2B2F86A}" srcOrd="10" destOrd="0" presId="urn:microsoft.com/office/officeart/2016/7/layout/RepeatingBendingProcessNew"/>
    <dgm:cxn modelId="{05D9D09A-D8B8-4DA0-8E50-35B3FA3D5EBB}" type="presParOf" srcId="{D99605E0-BBAA-4290-8473-240C48C4F2E9}" destId="{06565269-EDA1-4606-BC2A-02F50E852F35}" srcOrd="11" destOrd="0" presId="urn:microsoft.com/office/officeart/2016/7/layout/RepeatingBendingProcessNew"/>
    <dgm:cxn modelId="{DCA8D86C-F73F-4D66-981A-806DF58CE738}" type="presParOf" srcId="{06565269-EDA1-4606-BC2A-02F50E852F35}" destId="{CA678F0C-67B4-4FBF-924B-B615F2AD715C}" srcOrd="0" destOrd="0" presId="urn:microsoft.com/office/officeart/2016/7/layout/RepeatingBendingProcessNew"/>
    <dgm:cxn modelId="{31C1254E-D65D-4CEE-8CBC-5AACEBE92B0A}" type="presParOf" srcId="{D99605E0-BBAA-4290-8473-240C48C4F2E9}" destId="{30BF1E65-AB74-4ADD-88F9-5B4C0F787635}" srcOrd="12" destOrd="0" presId="urn:microsoft.com/office/officeart/2016/7/layout/RepeatingBendingProcessNew"/>
    <dgm:cxn modelId="{85F8D1B2-61AE-4EBF-A8A7-5431E0CA8BD3}" type="presParOf" srcId="{D99605E0-BBAA-4290-8473-240C48C4F2E9}" destId="{AA2359E9-DD5E-4460-BEC1-A906CC0F4CCA}" srcOrd="13" destOrd="0" presId="urn:microsoft.com/office/officeart/2016/7/layout/RepeatingBendingProcessNew"/>
    <dgm:cxn modelId="{6DEE38ED-4985-4091-B00A-0FE58FE82889}" type="presParOf" srcId="{AA2359E9-DD5E-4460-BEC1-A906CC0F4CCA}" destId="{D504A9EC-7BEA-4143-9544-27849E14CA96}" srcOrd="0" destOrd="0" presId="urn:microsoft.com/office/officeart/2016/7/layout/RepeatingBendingProcessNew"/>
    <dgm:cxn modelId="{3BAF7817-7A86-4012-8743-7C9B43FBBF87}" type="presParOf" srcId="{D99605E0-BBAA-4290-8473-240C48C4F2E9}" destId="{4D1C75F3-EDC1-4EA4-91AB-2A92085B3DE9}" srcOrd="14" destOrd="0" presId="urn:microsoft.com/office/officeart/2016/7/layout/RepeatingBendingProcessNew"/>
    <dgm:cxn modelId="{4AFA1BB7-5D72-4306-9B0B-58AB395BC6FD}" type="presParOf" srcId="{D99605E0-BBAA-4290-8473-240C48C4F2E9}" destId="{1A81786E-6C48-43DA-B8C1-073A79AD0419}" srcOrd="15" destOrd="0" presId="urn:microsoft.com/office/officeart/2016/7/layout/RepeatingBendingProcessNew"/>
    <dgm:cxn modelId="{860DD3E6-6F16-4709-AB8C-8D242276D86A}" type="presParOf" srcId="{1A81786E-6C48-43DA-B8C1-073A79AD0419}" destId="{AFBF9336-6884-4D30-955A-AE3D200131B5}" srcOrd="0" destOrd="0" presId="urn:microsoft.com/office/officeart/2016/7/layout/RepeatingBendingProcessNew"/>
    <dgm:cxn modelId="{3923487C-D246-4CD4-8B47-28648582BA6A}" type="presParOf" srcId="{D99605E0-BBAA-4290-8473-240C48C4F2E9}" destId="{147904DC-7697-4A8F-97AC-66CB0E1D54A1}" srcOrd="16" destOrd="0" presId="urn:microsoft.com/office/officeart/2016/7/layout/RepeatingBendingProcessNew"/>
    <dgm:cxn modelId="{2161DDD8-30B4-479A-A680-85C2AB08FBA4}" type="presParOf" srcId="{D99605E0-BBAA-4290-8473-240C48C4F2E9}" destId="{E13EB42A-8015-4C42-B972-E19318DC3697}" srcOrd="17" destOrd="0" presId="urn:microsoft.com/office/officeart/2016/7/layout/RepeatingBendingProcessNew"/>
    <dgm:cxn modelId="{7DFD0C4A-BB14-41D9-9CF5-21333C406850}" type="presParOf" srcId="{E13EB42A-8015-4C42-B972-E19318DC3697}" destId="{48F5D058-6238-41F9-AADB-6B42BC8C9A96}" srcOrd="0" destOrd="0" presId="urn:microsoft.com/office/officeart/2016/7/layout/RepeatingBendingProcessNew"/>
    <dgm:cxn modelId="{BCA4C6A4-68ED-4B5C-A2DC-61E7ABEAAD40}" type="presParOf" srcId="{D99605E0-BBAA-4290-8473-240C48C4F2E9}" destId="{731C8FB7-0120-4855-825B-2FD8EEC37E31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D04B06-3C66-43AE-B710-76DFAEF2CFF5}">
      <dsp:nvSpPr>
        <dsp:cNvPr id="0" name=""/>
        <dsp:cNvSpPr/>
      </dsp:nvSpPr>
      <dsp:spPr>
        <a:xfrm>
          <a:off x="0" y="603"/>
          <a:ext cx="6596063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3B094-DF5A-4869-84A2-6E4845FDAF8D}">
      <dsp:nvSpPr>
        <dsp:cNvPr id="0" name=""/>
        <dsp:cNvSpPr/>
      </dsp:nvSpPr>
      <dsp:spPr>
        <a:xfrm>
          <a:off x="427016" y="318218"/>
          <a:ext cx="776392" cy="776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2D0A32-8B8C-45E2-821F-898B94E49A4C}">
      <dsp:nvSpPr>
        <dsp:cNvPr id="0" name=""/>
        <dsp:cNvSpPr/>
      </dsp:nvSpPr>
      <dsp:spPr>
        <a:xfrm>
          <a:off x="1630424" y="603"/>
          <a:ext cx="4965638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SomaSafe es un sistema web que permite gestionar incidentes de seguridad en empresas mineras en Arequipa, facilitando el registro y monitoreo en tiempo real.</a:t>
          </a:r>
          <a:endParaRPr lang="en-US" sz="2100" kern="1200" dirty="0"/>
        </a:p>
      </dsp:txBody>
      <dsp:txXfrm>
        <a:off x="1630424" y="603"/>
        <a:ext cx="4965638" cy="1411623"/>
      </dsp:txXfrm>
    </dsp:sp>
    <dsp:sp modelId="{9A24362F-01BF-4232-B7AE-3756909A26FD}">
      <dsp:nvSpPr>
        <dsp:cNvPr id="0" name=""/>
        <dsp:cNvSpPr/>
      </dsp:nvSpPr>
      <dsp:spPr>
        <a:xfrm>
          <a:off x="0" y="1765132"/>
          <a:ext cx="6596063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165C7F-A86D-4B38-B728-3EE6D12C75D6}">
      <dsp:nvSpPr>
        <dsp:cNvPr id="0" name=""/>
        <dsp:cNvSpPr/>
      </dsp:nvSpPr>
      <dsp:spPr>
        <a:xfrm>
          <a:off x="427016" y="2082747"/>
          <a:ext cx="776392" cy="776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23654-5270-4F4B-8A69-7F194FAECCB2}">
      <dsp:nvSpPr>
        <dsp:cNvPr id="0" name=""/>
        <dsp:cNvSpPr/>
      </dsp:nvSpPr>
      <dsp:spPr>
        <a:xfrm>
          <a:off x="1630424" y="1765132"/>
          <a:ext cx="4965638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El proyecto busca digitalizar procesos manuales, mejorando la organización de la información y el seguimiento de incidentes.</a:t>
          </a:r>
          <a:endParaRPr lang="en-US" sz="2100" kern="1200" dirty="0"/>
        </a:p>
      </dsp:txBody>
      <dsp:txXfrm>
        <a:off x="1630424" y="1765132"/>
        <a:ext cx="4965638" cy="1411623"/>
      </dsp:txXfrm>
    </dsp:sp>
    <dsp:sp modelId="{8033FAC3-1BAB-443B-81DE-EFAF7ACDE4D7}">
      <dsp:nvSpPr>
        <dsp:cNvPr id="0" name=""/>
        <dsp:cNvSpPr/>
      </dsp:nvSpPr>
      <dsp:spPr>
        <a:xfrm>
          <a:off x="0" y="3529661"/>
          <a:ext cx="6596063" cy="141162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CD72A-64BF-49B1-9369-2E9E2828ED37}">
      <dsp:nvSpPr>
        <dsp:cNvPr id="0" name=""/>
        <dsp:cNvSpPr/>
      </dsp:nvSpPr>
      <dsp:spPr>
        <a:xfrm>
          <a:off x="427016" y="3847276"/>
          <a:ext cx="776392" cy="776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1310B-42AD-4E41-8D6A-F07B45696EA3}">
      <dsp:nvSpPr>
        <dsp:cNvPr id="0" name=""/>
        <dsp:cNvSpPr/>
      </dsp:nvSpPr>
      <dsp:spPr>
        <a:xfrm>
          <a:off x="1630424" y="3529661"/>
          <a:ext cx="4965638" cy="14116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97" tIns="149397" rIns="149397" bIns="14939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Está dirigido a supervisores y personal de campo, facilitando el acceso a información en tiempo real y la toma de decisiones.</a:t>
          </a:r>
          <a:endParaRPr lang="en-US" sz="2100" kern="1200" dirty="0"/>
        </a:p>
      </dsp:txBody>
      <dsp:txXfrm>
        <a:off x="1630424" y="3529661"/>
        <a:ext cx="4965638" cy="14116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E88FE-949C-48C7-A924-0D477BE967A1}">
      <dsp:nvSpPr>
        <dsp:cNvPr id="0" name=""/>
        <dsp:cNvSpPr/>
      </dsp:nvSpPr>
      <dsp:spPr>
        <a:xfrm>
          <a:off x="0" y="0"/>
          <a:ext cx="73838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2C8E1-576F-457B-8CD3-81C8689463BA}">
      <dsp:nvSpPr>
        <dsp:cNvPr id="0" name=""/>
        <dsp:cNvSpPr/>
      </dsp:nvSpPr>
      <dsp:spPr>
        <a:xfrm>
          <a:off x="0" y="0"/>
          <a:ext cx="7383826" cy="30130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• Registro digital de incidentes en tiempo real</a:t>
          </a:r>
          <a:br>
            <a:rPr lang="es-MX" sz="2600" kern="1200" dirty="0"/>
          </a:br>
          <a:r>
            <a:rPr lang="es-MX" sz="2600" kern="1200" dirty="0"/>
            <a:t>• Monitoreo y seguimiento de incidentes</a:t>
          </a:r>
          <a:br>
            <a:rPr lang="es-MX" sz="2600" kern="1200" dirty="0"/>
          </a:br>
          <a:r>
            <a:rPr lang="es-MX" sz="2600" kern="1200" dirty="0"/>
            <a:t>• Centralización de información en una base de datos</a:t>
          </a:r>
          <a:br>
            <a:rPr lang="es-MX" sz="2600" kern="1200" dirty="0"/>
          </a:br>
          <a:r>
            <a:rPr lang="es-MX" sz="2600" kern="1200" dirty="0"/>
            <a:t>• Generación de reportes de seguridad</a:t>
          </a:r>
          <a:br>
            <a:rPr lang="es-MX" sz="2600" kern="1200" dirty="0"/>
          </a:br>
          <a:r>
            <a:rPr lang="es-MX" sz="2600" kern="1200" dirty="0"/>
            <a:t>• Acceso mediante plataforma web</a:t>
          </a:r>
          <a:endParaRPr lang="en-US" sz="2600" kern="1200" dirty="0"/>
        </a:p>
      </dsp:txBody>
      <dsp:txXfrm>
        <a:off x="0" y="0"/>
        <a:ext cx="7383826" cy="3013083"/>
      </dsp:txXfrm>
    </dsp:sp>
    <dsp:sp modelId="{780CC673-A8F6-4C32-820C-22860C296673}">
      <dsp:nvSpPr>
        <dsp:cNvPr id="0" name=""/>
        <dsp:cNvSpPr/>
      </dsp:nvSpPr>
      <dsp:spPr>
        <a:xfrm>
          <a:off x="0" y="3013083"/>
          <a:ext cx="738382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2EB17A-DA1C-4749-ACAB-048A775763A7}">
      <dsp:nvSpPr>
        <dsp:cNvPr id="0" name=""/>
        <dsp:cNvSpPr/>
      </dsp:nvSpPr>
      <dsp:spPr>
        <a:xfrm>
          <a:off x="0" y="3013083"/>
          <a:ext cx="7383826" cy="30130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• Uso inicial limitado a empresas mineras en Arequipa</a:t>
          </a:r>
          <a:br>
            <a:rPr lang="es-MX" sz="2600" kern="1200" dirty="0"/>
          </a:br>
          <a:r>
            <a:rPr lang="es-MX" sz="2600" kern="1200" dirty="0"/>
            <a:t>• Dependencia de conexión a internet</a:t>
          </a:r>
          <a:br>
            <a:rPr lang="es-MX" sz="2600" kern="1200" dirty="0"/>
          </a:br>
          <a:r>
            <a:rPr lang="es-MX" sz="2600" kern="1200" dirty="0"/>
            <a:t>• No incluye integración con sistemas externos (en esta fase)</a:t>
          </a:r>
          <a:br>
            <a:rPr lang="es-MX" sz="2600" kern="1200" dirty="0"/>
          </a:br>
          <a:r>
            <a:rPr lang="es-MX" sz="2600" kern="1200" dirty="0"/>
            <a:t>• Desarrollo enfocado a prototipo funcional</a:t>
          </a:r>
          <a:br>
            <a:rPr lang="es-MX" sz="2600" kern="1200" dirty="0"/>
          </a:br>
          <a:r>
            <a:rPr lang="es-MX" sz="2600" kern="1200" dirty="0"/>
            <a:t>• Seguridad avanzada no implementada completamente</a:t>
          </a:r>
          <a:endParaRPr lang="en-US" sz="2600" kern="1200" dirty="0"/>
        </a:p>
      </dsp:txBody>
      <dsp:txXfrm>
        <a:off x="0" y="3013083"/>
        <a:ext cx="7383826" cy="30130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C0493-E3C6-4828-81E8-8C26C5DFDB21}">
      <dsp:nvSpPr>
        <dsp:cNvPr id="0" name=""/>
        <dsp:cNvSpPr/>
      </dsp:nvSpPr>
      <dsp:spPr>
        <a:xfrm>
          <a:off x="2464455" y="488381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643602" y="532054"/>
        <a:ext cx="20468" cy="4093"/>
      </dsp:txXfrm>
    </dsp:sp>
    <dsp:sp modelId="{69FA23F7-DF55-4F62-8CD9-6740DEDEABC4}">
      <dsp:nvSpPr>
        <dsp:cNvPr id="0" name=""/>
        <dsp:cNvSpPr/>
      </dsp:nvSpPr>
      <dsp:spPr>
        <a:xfrm>
          <a:off x="686422" y="151"/>
          <a:ext cx="1779833" cy="10678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Semanas 1 - 3:</a:t>
          </a:r>
          <a:endParaRPr lang="en-US" sz="1600" kern="1200" dirty="0"/>
        </a:p>
      </dsp:txBody>
      <dsp:txXfrm>
        <a:off x="686422" y="151"/>
        <a:ext cx="1779833" cy="1067899"/>
      </dsp:txXfrm>
    </dsp:sp>
    <dsp:sp modelId="{79F573FD-D25A-4996-B873-26AACD7D0366}">
      <dsp:nvSpPr>
        <dsp:cNvPr id="0" name=""/>
        <dsp:cNvSpPr/>
      </dsp:nvSpPr>
      <dsp:spPr>
        <a:xfrm>
          <a:off x="4653650" y="488381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832796" y="532054"/>
        <a:ext cx="20468" cy="4093"/>
      </dsp:txXfrm>
    </dsp:sp>
    <dsp:sp modelId="{40A918B3-21B2-473A-8F3C-86014C4EFCFD}">
      <dsp:nvSpPr>
        <dsp:cNvPr id="0" name=""/>
        <dsp:cNvSpPr/>
      </dsp:nvSpPr>
      <dsp:spPr>
        <a:xfrm>
          <a:off x="2875617" y="151"/>
          <a:ext cx="1779833" cy="10678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Análisis del problema y levantamiento de requisitos</a:t>
          </a:r>
          <a:endParaRPr lang="en-US" sz="1600" kern="1200" dirty="0"/>
        </a:p>
      </dsp:txBody>
      <dsp:txXfrm>
        <a:off x="2875617" y="151"/>
        <a:ext cx="1779833" cy="1067899"/>
      </dsp:txXfrm>
    </dsp:sp>
    <dsp:sp modelId="{F358C570-1DE1-4969-AB0F-6F7245AF58A3}">
      <dsp:nvSpPr>
        <dsp:cNvPr id="0" name=""/>
        <dsp:cNvSpPr/>
      </dsp:nvSpPr>
      <dsp:spPr>
        <a:xfrm>
          <a:off x="6842844" y="488381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021991" y="532054"/>
        <a:ext cx="20468" cy="4093"/>
      </dsp:txXfrm>
    </dsp:sp>
    <dsp:sp modelId="{183F4EEB-AF90-4157-9A16-8596B801AF78}">
      <dsp:nvSpPr>
        <dsp:cNvPr id="0" name=""/>
        <dsp:cNvSpPr/>
      </dsp:nvSpPr>
      <dsp:spPr>
        <a:xfrm>
          <a:off x="5064811" y="151"/>
          <a:ext cx="1779833" cy="10678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Semanas 4 - 6:</a:t>
          </a:r>
          <a:endParaRPr lang="en-US" sz="1600" kern="1200" dirty="0"/>
        </a:p>
      </dsp:txBody>
      <dsp:txXfrm>
        <a:off x="5064811" y="151"/>
        <a:ext cx="1779833" cy="1067899"/>
      </dsp:txXfrm>
    </dsp:sp>
    <dsp:sp modelId="{25AC6246-2FAE-4E58-A564-CC53A1899DD8}">
      <dsp:nvSpPr>
        <dsp:cNvPr id="0" name=""/>
        <dsp:cNvSpPr/>
      </dsp:nvSpPr>
      <dsp:spPr>
        <a:xfrm>
          <a:off x="1576338" y="1066250"/>
          <a:ext cx="6567584" cy="378761"/>
        </a:xfrm>
        <a:custGeom>
          <a:avLst/>
          <a:gdLst/>
          <a:ahLst/>
          <a:cxnLst/>
          <a:rect l="0" t="0" r="0" b="0"/>
          <a:pathLst>
            <a:path>
              <a:moveTo>
                <a:pt x="6567584" y="0"/>
              </a:moveTo>
              <a:lnTo>
                <a:pt x="6567584" y="206480"/>
              </a:lnTo>
              <a:lnTo>
                <a:pt x="0" y="206480"/>
              </a:lnTo>
              <a:lnTo>
                <a:pt x="0" y="378761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695622" y="1253584"/>
        <a:ext cx="329016" cy="4093"/>
      </dsp:txXfrm>
    </dsp:sp>
    <dsp:sp modelId="{BFD5F739-0999-4063-82EA-8B64BCEF07F6}">
      <dsp:nvSpPr>
        <dsp:cNvPr id="0" name=""/>
        <dsp:cNvSpPr/>
      </dsp:nvSpPr>
      <dsp:spPr>
        <a:xfrm>
          <a:off x="7254006" y="151"/>
          <a:ext cx="1779833" cy="10678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Diseño del sistema y base de datos</a:t>
          </a:r>
          <a:endParaRPr lang="en-US" sz="1600" kern="1200" dirty="0"/>
        </a:p>
      </dsp:txBody>
      <dsp:txXfrm>
        <a:off x="7254006" y="151"/>
        <a:ext cx="1779833" cy="1067899"/>
      </dsp:txXfrm>
    </dsp:sp>
    <dsp:sp modelId="{7A48B885-3083-4406-9DEE-0978644FD410}">
      <dsp:nvSpPr>
        <dsp:cNvPr id="0" name=""/>
        <dsp:cNvSpPr/>
      </dsp:nvSpPr>
      <dsp:spPr>
        <a:xfrm>
          <a:off x="2464455" y="1965642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643602" y="2009315"/>
        <a:ext cx="20468" cy="4093"/>
      </dsp:txXfrm>
    </dsp:sp>
    <dsp:sp modelId="{48CE3E4B-9AFE-4149-AA1C-A133C3DCBB70}">
      <dsp:nvSpPr>
        <dsp:cNvPr id="0" name=""/>
        <dsp:cNvSpPr/>
      </dsp:nvSpPr>
      <dsp:spPr>
        <a:xfrm>
          <a:off x="686422" y="1477412"/>
          <a:ext cx="1779833" cy="106789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Semanas 7 - 10:</a:t>
          </a:r>
          <a:endParaRPr lang="en-US" sz="1600" kern="1200" dirty="0"/>
        </a:p>
      </dsp:txBody>
      <dsp:txXfrm>
        <a:off x="686422" y="1477412"/>
        <a:ext cx="1779833" cy="1067899"/>
      </dsp:txXfrm>
    </dsp:sp>
    <dsp:sp modelId="{06565269-EDA1-4606-BC2A-02F50E852F35}">
      <dsp:nvSpPr>
        <dsp:cNvPr id="0" name=""/>
        <dsp:cNvSpPr/>
      </dsp:nvSpPr>
      <dsp:spPr>
        <a:xfrm>
          <a:off x="4653650" y="1965642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832796" y="2009315"/>
        <a:ext cx="20468" cy="4093"/>
      </dsp:txXfrm>
    </dsp:sp>
    <dsp:sp modelId="{DF7A0702-9C64-4712-828A-93F3F2B2F86A}">
      <dsp:nvSpPr>
        <dsp:cNvPr id="0" name=""/>
        <dsp:cNvSpPr/>
      </dsp:nvSpPr>
      <dsp:spPr>
        <a:xfrm>
          <a:off x="2875617" y="1477412"/>
          <a:ext cx="1779833" cy="10678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Desarrollo del sistema en Python</a:t>
          </a:r>
          <a:endParaRPr lang="en-US" sz="1600" kern="1200" dirty="0"/>
        </a:p>
      </dsp:txBody>
      <dsp:txXfrm>
        <a:off x="2875617" y="1477412"/>
        <a:ext cx="1779833" cy="1067899"/>
      </dsp:txXfrm>
    </dsp:sp>
    <dsp:sp modelId="{AA2359E9-DD5E-4460-BEC1-A906CC0F4CCA}">
      <dsp:nvSpPr>
        <dsp:cNvPr id="0" name=""/>
        <dsp:cNvSpPr/>
      </dsp:nvSpPr>
      <dsp:spPr>
        <a:xfrm>
          <a:off x="6842844" y="1965642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7021991" y="2009315"/>
        <a:ext cx="20468" cy="4093"/>
      </dsp:txXfrm>
    </dsp:sp>
    <dsp:sp modelId="{30BF1E65-AB74-4ADD-88F9-5B4C0F787635}">
      <dsp:nvSpPr>
        <dsp:cNvPr id="0" name=""/>
        <dsp:cNvSpPr/>
      </dsp:nvSpPr>
      <dsp:spPr>
        <a:xfrm>
          <a:off x="5064811" y="1477412"/>
          <a:ext cx="1779833" cy="10678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Semanas 11 - 14:</a:t>
          </a:r>
          <a:endParaRPr lang="en-US" sz="1600" kern="1200" dirty="0"/>
        </a:p>
      </dsp:txBody>
      <dsp:txXfrm>
        <a:off x="5064811" y="1477412"/>
        <a:ext cx="1779833" cy="1067899"/>
      </dsp:txXfrm>
    </dsp:sp>
    <dsp:sp modelId="{1A81786E-6C48-43DA-B8C1-073A79AD0419}">
      <dsp:nvSpPr>
        <dsp:cNvPr id="0" name=""/>
        <dsp:cNvSpPr/>
      </dsp:nvSpPr>
      <dsp:spPr>
        <a:xfrm>
          <a:off x="1576338" y="2543512"/>
          <a:ext cx="6567584" cy="378761"/>
        </a:xfrm>
        <a:custGeom>
          <a:avLst/>
          <a:gdLst/>
          <a:ahLst/>
          <a:cxnLst/>
          <a:rect l="0" t="0" r="0" b="0"/>
          <a:pathLst>
            <a:path>
              <a:moveTo>
                <a:pt x="6567584" y="0"/>
              </a:moveTo>
              <a:lnTo>
                <a:pt x="6567584" y="206480"/>
              </a:lnTo>
              <a:lnTo>
                <a:pt x="0" y="206480"/>
              </a:lnTo>
              <a:lnTo>
                <a:pt x="0" y="378761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695622" y="2730846"/>
        <a:ext cx="329016" cy="4093"/>
      </dsp:txXfrm>
    </dsp:sp>
    <dsp:sp modelId="{4D1C75F3-EDC1-4EA4-91AB-2A92085B3DE9}">
      <dsp:nvSpPr>
        <dsp:cNvPr id="0" name=""/>
        <dsp:cNvSpPr/>
      </dsp:nvSpPr>
      <dsp:spPr>
        <a:xfrm>
          <a:off x="7254006" y="1477412"/>
          <a:ext cx="1779833" cy="10678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Pruebas del sistema</a:t>
          </a:r>
          <a:endParaRPr lang="en-US" sz="1600" kern="1200" dirty="0"/>
        </a:p>
      </dsp:txBody>
      <dsp:txXfrm>
        <a:off x="7254006" y="1477412"/>
        <a:ext cx="1779833" cy="1067899"/>
      </dsp:txXfrm>
    </dsp:sp>
    <dsp:sp modelId="{E13EB42A-8015-4C42-B972-E19318DC3697}">
      <dsp:nvSpPr>
        <dsp:cNvPr id="0" name=""/>
        <dsp:cNvSpPr/>
      </dsp:nvSpPr>
      <dsp:spPr>
        <a:xfrm>
          <a:off x="2464455" y="3442903"/>
          <a:ext cx="3787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8761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643602" y="3486577"/>
        <a:ext cx="20468" cy="4093"/>
      </dsp:txXfrm>
    </dsp:sp>
    <dsp:sp modelId="{147904DC-7697-4A8F-97AC-66CB0E1D54A1}">
      <dsp:nvSpPr>
        <dsp:cNvPr id="0" name=""/>
        <dsp:cNvSpPr/>
      </dsp:nvSpPr>
      <dsp:spPr>
        <a:xfrm>
          <a:off x="686422" y="2954674"/>
          <a:ext cx="1779833" cy="10678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Semanas 15 - 16: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Documentación del proyecto</a:t>
          </a:r>
          <a:endParaRPr lang="en-US" sz="1600" kern="1200" dirty="0"/>
        </a:p>
      </dsp:txBody>
      <dsp:txXfrm>
        <a:off x="686422" y="2954674"/>
        <a:ext cx="1779833" cy="1067899"/>
      </dsp:txXfrm>
    </dsp:sp>
    <dsp:sp modelId="{731C8FB7-0120-4855-825B-2FD8EEC37E31}">
      <dsp:nvSpPr>
        <dsp:cNvPr id="0" name=""/>
        <dsp:cNvSpPr/>
      </dsp:nvSpPr>
      <dsp:spPr>
        <a:xfrm>
          <a:off x="2875617" y="2954674"/>
          <a:ext cx="1779833" cy="106789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213" tIns="91546" rIns="87213" bIns="9154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Semanas 17 - 18: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Elaboración de PPT y presentación final</a:t>
          </a:r>
          <a:endParaRPr lang="en-US" sz="1600" kern="1200" dirty="0"/>
        </a:p>
      </dsp:txBody>
      <dsp:txXfrm>
        <a:off x="2875617" y="2954674"/>
        <a:ext cx="1779833" cy="1067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09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128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09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5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140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852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92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98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98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3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5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 dirty="0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699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644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 dirty="0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164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77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7479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094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12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38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503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718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66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35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9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8344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558" y="637762"/>
            <a:ext cx="4284397" cy="5576770"/>
          </a:xfrm>
        </p:spPr>
        <p:txBody>
          <a:bodyPr anchor="ctr">
            <a:normAutofit/>
          </a:bodyPr>
          <a:lstStyle/>
          <a:p>
            <a:pPr algn="l"/>
            <a:r>
              <a:rPr lang="es-MX" sz="4600" dirty="0">
                <a:solidFill>
                  <a:schemeClr val="bg1"/>
                </a:solidFill>
                <a:latin typeface="Tw Cen MT Condensed" panose="020B0606020104020203" pitchFamily="34" charset="0"/>
                <a:ea typeface="+mn-ea"/>
                <a:cs typeface="+mn-cs"/>
              </a:rPr>
              <a:t>Sistema informático de gestión de incidentes y seguridad para empresas del sector minero en la ciudad de Arequipa – SomaSafe</a:t>
            </a:r>
            <a:endParaRPr lang="de-DE" sz="4600" dirty="0">
              <a:solidFill>
                <a:schemeClr val="bg1"/>
              </a:solidFill>
              <a:latin typeface="Tw Cen MT Condensed" panose="020B0606020104020203" pitchFamily="34" charset="0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39464" y="637762"/>
            <a:ext cx="4305881" cy="5860946"/>
          </a:xfrm>
        </p:spPr>
        <p:txBody>
          <a:bodyPr anchor="ctr">
            <a:normAutofit/>
          </a:bodyPr>
          <a:lstStyle/>
          <a:p>
            <a:pPr algn="l"/>
            <a:endParaRPr lang="de-DE" sz="2800" dirty="0">
              <a:latin typeface="Tw Cen MT Condensed" panose="020B0606020104020203" pitchFamily="34" charset="0"/>
            </a:endParaRPr>
          </a:p>
          <a:p>
            <a:pPr algn="l"/>
            <a:r>
              <a:rPr lang="de-DE" sz="2800" b="1" dirty="0">
                <a:latin typeface="Tw Cen MT Condensed" panose="020B0606020104020203" pitchFamily="34" charset="0"/>
              </a:rPr>
              <a:t>Curso: </a:t>
            </a:r>
            <a:r>
              <a:rPr lang="es-PE" sz="2800" dirty="0">
                <a:latin typeface="Tw Cen MT Condensed" panose="020B0606020104020203" pitchFamily="34" charset="0"/>
              </a:rPr>
              <a:t>Integrador I: Sistemas - Software</a:t>
            </a:r>
            <a:endParaRPr lang="de-DE" sz="2800" dirty="0">
              <a:latin typeface="Tw Cen MT Condensed" panose="020B0606020104020203" pitchFamily="34" charset="0"/>
            </a:endParaRPr>
          </a:p>
          <a:p>
            <a:pPr algn="l"/>
            <a:r>
              <a:rPr lang="de-DE" sz="2800" b="1" dirty="0">
                <a:latin typeface="Tw Cen MT Condensed" panose="020B0606020104020203" pitchFamily="34" charset="0"/>
              </a:rPr>
              <a:t>Integrantes: </a:t>
            </a:r>
          </a:p>
          <a:p>
            <a:pPr algn="l"/>
            <a:r>
              <a:rPr lang="de-DE" sz="2800" dirty="0">
                <a:latin typeface="Tw Cen MT Condensed" panose="020B0606020104020203" pitchFamily="34" charset="0"/>
              </a:rPr>
              <a:t>Ana Paula Yato Torres – U20305297</a:t>
            </a:r>
          </a:p>
          <a:p>
            <a:pPr algn="l"/>
            <a:r>
              <a:rPr lang="es-MX" sz="2800" dirty="0">
                <a:latin typeface="Tw Cen MT Condensed" panose="020B0606020104020203" pitchFamily="34" charset="0"/>
              </a:rPr>
              <a:t>Herbert Jakob Morales Bueno - U23310949</a:t>
            </a:r>
          </a:p>
          <a:p>
            <a:pPr algn="l"/>
            <a:r>
              <a:rPr lang="de-DE" sz="2800" dirty="0">
                <a:latin typeface="Tw Cen MT Condensed" panose="020B0606020104020203" pitchFamily="34" charset="0"/>
              </a:rPr>
              <a:t>Jesús Díaz Valenzuela - U25302321</a:t>
            </a:r>
          </a:p>
          <a:p>
            <a:pPr algn="l"/>
            <a:r>
              <a:rPr lang="de-DE" sz="2800" dirty="0">
                <a:latin typeface="Tw Cen MT Condensed" panose="020B0606020104020203" pitchFamily="34" charset="0"/>
              </a:rPr>
              <a:t>Jose Fernando Heredia Vilchez - U23257986 </a:t>
            </a:r>
          </a:p>
          <a:p>
            <a:pPr algn="l"/>
            <a:r>
              <a:rPr lang="de-DE" sz="2800" b="1" dirty="0">
                <a:latin typeface="Tw Cen MT Condensed" panose="020B0606020104020203" pitchFamily="34" charset="0"/>
              </a:rPr>
              <a:t>Docente: </a:t>
            </a:r>
            <a:r>
              <a:rPr lang="es-PE" sz="2800" dirty="0">
                <a:latin typeface="Tw Cen MT Condensed" panose="020B0606020104020203" pitchFamily="34" charset="0"/>
              </a:rPr>
              <a:t>Eloy </a:t>
            </a:r>
            <a:r>
              <a:rPr lang="es-PE" sz="2800" dirty="0" err="1">
                <a:latin typeface="Tw Cen MT Condensed" panose="020B0606020104020203" pitchFamily="34" charset="0"/>
              </a:rPr>
              <a:t>Pocohuanca</a:t>
            </a:r>
            <a:r>
              <a:rPr lang="es-PE" sz="2800" dirty="0">
                <a:latin typeface="Tw Cen MT Condensed" panose="020B0606020104020203" pitchFamily="34" charset="0"/>
              </a:rPr>
              <a:t> Chino</a:t>
            </a:r>
            <a:endParaRPr lang="de-DE" sz="2800" dirty="0">
              <a:latin typeface="Tw Cen MT Condensed" panose="020B0606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468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en-US" noProof="0" dirty="0">
                <a:latin typeface="Tw Cen MT Condensed" panose="020B0606020104020203" pitchFamily="34" charset="0"/>
              </a:rPr>
              <a:t>Somasafe/area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es-MX" sz="1500" b="1" dirty="0"/>
              <a:t>SomaSafe</a:t>
            </a:r>
            <a:r>
              <a:rPr lang="es-MX" sz="1500" dirty="0"/>
              <a:t> es un sistema web orientado al área de seguridad, enfocado en el registro, control y monitoreo de incidentes en empresas del sector minero en Arequipa.</a:t>
            </a:r>
          </a:p>
          <a:p>
            <a:r>
              <a:rPr lang="es-MX" sz="1500" dirty="0"/>
              <a:t>Está dirigido a supervisores, técnicos y personal administrativo que requieren gestionar información de manera organizada y eficiente.</a:t>
            </a:r>
          </a:p>
          <a:p>
            <a:r>
              <a:rPr lang="es-MX" sz="1500" b="1" dirty="0"/>
              <a:t>Nombre del sistema:</a:t>
            </a:r>
            <a:r>
              <a:rPr lang="es-MX" sz="1500" dirty="0"/>
              <a:t> SomaSafe</a:t>
            </a:r>
            <a:br>
              <a:rPr lang="es-MX" sz="1500" dirty="0"/>
            </a:br>
            <a:r>
              <a:rPr lang="es-MX" sz="1500" b="1" dirty="0"/>
              <a:t>Tipo:</a:t>
            </a:r>
            <a:r>
              <a:rPr lang="es-MX" sz="1500" dirty="0"/>
              <a:t> Sistema web</a:t>
            </a:r>
            <a:br>
              <a:rPr lang="es-MX" sz="1500" dirty="0"/>
            </a:br>
            <a:r>
              <a:rPr lang="es-MX" sz="1500" b="1" dirty="0"/>
              <a:t>Área:</a:t>
            </a:r>
            <a:r>
              <a:rPr lang="es-MX" sz="1500" dirty="0"/>
              <a:t> Seguridad y salud ocupacional</a:t>
            </a:r>
            <a:br>
              <a:rPr lang="es-MX" sz="1500" dirty="0"/>
            </a:br>
            <a:r>
              <a:rPr lang="es-MX" sz="1500" b="1" dirty="0"/>
              <a:t>Actividad principal:</a:t>
            </a:r>
            <a:r>
              <a:rPr lang="es-MX" sz="1500" dirty="0"/>
              <a:t> Registro y monitoreo de incidentes</a:t>
            </a:r>
            <a:br>
              <a:rPr lang="es-MX" sz="1500" dirty="0"/>
            </a:br>
            <a:r>
              <a:rPr lang="es-MX" sz="1500" b="1" dirty="0"/>
              <a:t>Ubicación:</a:t>
            </a:r>
            <a:r>
              <a:rPr lang="es-MX" sz="1500" dirty="0"/>
              <a:t> Arequipa – sector minero</a:t>
            </a:r>
          </a:p>
          <a:p>
            <a:r>
              <a:rPr lang="es-MX" sz="1500" b="1" dirty="0"/>
              <a:t>Usuarios principales:</a:t>
            </a:r>
            <a:endParaRPr lang="es-MX" sz="15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500" dirty="0"/>
              <a:t>Supervisores de seguridad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500" dirty="0"/>
              <a:t>Técnicos de campo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MX" sz="1500" dirty="0"/>
              <a:t>Personal administrativo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5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1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19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1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1835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100" dirty="0">
                <a:solidFill>
                  <a:srgbClr val="FFFFFF"/>
                </a:solidFill>
              </a:rPr>
              <a:t>Sistema </a:t>
            </a:r>
            <a:r>
              <a:rPr lang="en-US" sz="3100" dirty="0" err="1">
                <a:solidFill>
                  <a:srgbClr val="FFFFFF"/>
                </a:solidFill>
              </a:rPr>
              <a:t>informático</a:t>
            </a:r>
            <a:r>
              <a:rPr lang="en-US" sz="3100" dirty="0">
                <a:solidFill>
                  <a:srgbClr val="FFFFFF"/>
                </a:solidFill>
              </a:rPr>
              <a:t> de gestión de incidentes y seguridad para </a:t>
            </a:r>
            <a:r>
              <a:rPr lang="en-US" sz="3100" dirty="0" err="1">
                <a:solidFill>
                  <a:srgbClr val="FFFFFF"/>
                </a:solidFill>
              </a:rPr>
              <a:t>empresas</a:t>
            </a:r>
            <a:r>
              <a:rPr lang="en-US" sz="3100" dirty="0">
                <a:solidFill>
                  <a:srgbClr val="FFFFFF"/>
                </a:solidFill>
              </a:rPr>
              <a:t> del sector </a:t>
            </a:r>
            <a:r>
              <a:rPr lang="en-US" sz="3100" dirty="0" err="1">
                <a:solidFill>
                  <a:srgbClr val="FFFFFF"/>
                </a:solidFill>
              </a:rPr>
              <a:t>minero</a:t>
            </a:r>
            <a:r>
              <a:rPr lang="en-US" sz="3100" dirty="0">
                <a:solidFill>
                  <a:srgbClr val="FFFFFF"/>
                </a:solidFill>
              </a:rPr>
              <a:t> en la ciudad de Arequipa – </a:t>
            </a:r>
            <a:r>
              <a:rPr lang="en-US" sz="3100" dirty="0" err="1">
                <a:solidFill>
                  <a:srgbClr val="FFFFFF"/>
                </a:solidFill>
              </a:rPr>
              <a:t>SomaSafe</a:t>
            </a:r>
            <a:endParaRPr lang="en-US" sz="3100" dirty="0">
              <a:solidFill>
                <a:srgbClr val="FFFFFF"/>
              </a:solidFill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7CE28910-F205-5746-14EB-771D5DCB10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246" r="1" b="13582"/>
          <a:stretch>
            <a:fillRect/>
          </a:stretch>
        </p:blipFill>
        <p:spPr>
          <a:xfrm>
            <a:off x="327547" y="321733"/>
            <a:ext cx="7058306" cy="4107392"/>
          </a:xfrm>
          <a:prstGeom prst="rect">
            <a:avLst/>
          </a:prstGeom>
          <a:solidFill>
            <a:prstClr val="black"/>
          </a:solidFill>
        </p:spPr>
      </p:pic>
      <p:sp>
        <p:nvSpPr>
          <p:cNvPr id="28" name="Rectangle 23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9319" y="917725"/>
            <a:ext cx="3424739" cy="4852362"/>
          </a:xfrm>
        </p:spPr>
        <p:txBody>
          <a:bodyPr vert="horz" lIns="45720" tIns="45720" rIns="45720" bIns="45720" rtlCol="0" anchor="ctr">
            <a:normAutofit/>
          </a:bodyPr>
          <a:lstStyle/>
          <a:p>
            <a:r>
              <a:rPr lang="es-MX" b="1" dirty="0"/>
              <a:t>SomaSafe es un sistema web desarrollado en Python (Django), orientado a la gestión de incidentes de seguridad en empresas del sector minero en la ciudad de Arequipa.</a:t>
            </a:r>
            <a:endParaRPr lang="es-MX" dirty="0"/>
          </a:p>
          <a:p>
            <a:r>
              <a:rPr lang="es-MX" dirty="0"/>
              <a:t>Permite registrar, gestionar y monitorear incidentes en tiempo real, mejorando la organización de la información, reduciendo errores manuales y facilitando la generación de reportes para la toma de decisiones.</a:t>
            </a:r>
          </a:p>
          <a:p>
            <a:r>
              <a:rPr lang="es-MX" dirty="0"/>
              <a:t>El sistema busca optimizar la gestión de incidentes mediante una solución digital eficiente, adaptada a las necesidades del entorno minero.</a:t>
            </a:r>
          </a:p>
        </p:txBody>
      </p:sp>
    </p:spTree>
    <p:extLst>
      <p:ext uri="{BB962C8B-B14F-4D97-AF65-F5344CB8AC3E}">
        <p14:creationId xmlns:p14="http://schemas.microsoft.com/office/powerpoint/2010/main" val="238382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9872" y="643467"/>
            <a:ext cx="3473009" cy="5571066"/>
          </a:xfrm>
        </p:spPr>
        <p:txBody>
          <a:bodyPr>
            <a:normAutofit/>
          </a:bodyPr>
          <a:lstStyle/>
          <a:p>
            <a:r>
              <a:rPr lang="de-DE" dirty="0"/>
              <a:t>RESUMEN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53463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69361B5-98D0-5A43-3977-F312141CA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13340"/>
              </p:ext>
            </p:extLst>
          </p:nvPr>
        </p:nvGraphicFramePr>
        <p:xfrm>
          <a:off x="942975" y="933450"/>
          <a:ext cx="6596063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651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901" y="2447364"/>
            <a:ext cx="4648780" cy="29135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 sistema permite registrar, gestionar y monitorear incidentes de seguridad en tiempo real. </a:t>
            </a:r>
            <a:br>
              <a:rPr lang="es-MX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MX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Facilita el reporte de condiciones inseguras, almacenamiento de información y seguimiento de incidentes. </a:t>
            </a:r>
            <a:br>
              <a:rPr lang="es-MX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s-MX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Además, permite la asignación de responsables y notificación automática para una gestión eficiente.</a:t>
            </a:r>
            <a:endParaRPr lang="en-US" sz="1800" cap="none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2156C9C-B505-42F0-B471-60DF907B0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901" y="958778"/>
            <a:ext cx="4648781" cy="932776"/>
          </a:xfrm>
        </p:spPr>
        <p:txBody>
          <a:bodyPr anchor="ctr">
            <a:normAutofit fontScale="70000" lnSpcReduction="20000"/>
          </a:bodyPr>
          <a:lstStyle/>
          <a:p>
            <a:pPr algn="ctr"/>
            <a:r>
              <a:rPr lang="es-MX" sz="5000" cap="all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TOMA DE REQUIRIMIENTOS DEL SISTEMA</a:t>
            </a:r>
            <a:endParaRPr lang="es-PE" sz="5000" cap="all" spc="1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C84002AF-8F21-49E2-93B3-B2F6D786C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776876"/>
              </p:ext>
            </p:extLst>
          </p:nvPr>
        </p:nvGraphicFramePr>
        <p:xfrm>
          <a:off x="5867403" y="322282"/>
          <a:ext cx="5490880" cy="6257811"/>
        </p:xfrm>
        <a:graphic>
          <a:graphicData uri="http://schemas.openxmlformats.org/drawingml/2006/table">
            <a:tbl>
              <a:tblPr/>
              <a:tblGrid>
                <a:gridCol w="569256">
                  <a:extLst>
                    <a:ext uri="{9D8B030D-6E8A-4147-A177-3AD203B41FA5}">
                      <a16:colId xmlns:a16="http://schemas.microsoft.com/office/drawing/2014/main" val="4272981032"/>
                    </a:ext>
                  </a:extLst>
                </a:gridCol>
                <a:gridCol w="1640541">
                  <a:extLst>
                    <a:ext uri="{9D8B030D-6E8A-4147-A177-3AD203B41FA5}">
                      <a16:colId xmlns:a16="http://schemas.microsoft.com/office/drawing/2014/main" val="1774949213"/>
                    </a:ext>
                  </a:extLst>
                </a:gridCol>
                <a:gridCol w="1631576">
                  <a:extLst>
                    <a:ext uri="{9D8B030D-6E8A-4147-A177-3AD203B41FA5}">
                      <a16:colId xmlns:a16="http://schemas.microsoft.com/office/drawing/2014/main" val="2353987936"/>
                    </a:ext>
                  </a:extLst>
                </a:gridCol>
                <a:gridCol w="1649507">
                  <a:extLst>
                    <a:ext uri="{9D8B030D-6E8A-4147-A177-3AD203B41FA5}">
                      <a16:colId xmlns:a16="http://schemas.microsoft.com/office/drawing/2014/main" val="2126138222"/>
                    </a:ext>
                  </a:extLst>
                </a:gridCol>
              </a:tblGrid>
              <a:tr h="366727">
                <a:tc>
                  <a:txBody>
                    <a:bodyPr/>
                    <a:lstStyle/>
                    <a:p>
                      <a:pPr algn="ctr"/>
                      <a:r>
                        <a:rPr lang="es-PE" sz="800" b="1" dirty="0"/>
                        <a:t>ID de la Historia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800" b="1" dirty="0"/>
                        <a:t>Características / Funcionalidad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800" b="1" dirty="0"/>
                        <a:t>Razón / Resultado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800" b="1" dirty="0"/>
                        <a:t>Criterio de Aceptación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383507"/>
                  </a:ext>
                </a:extLst>
              </a:tr>
              <a:tr h="999870">
                <a:tc>
                  <a:txBody>
                    <a:bodyPr/>
                    <a:lstStyle/>
                    <a:p>
                      <a:pPr algn="ctr"/>
                      <a:r>
                        <a:rPr lang="es-PE" sz="700" b="1" dirty="0"/>
                        <a:t>ID.01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trabajador debe poder </a:t>
                      </a:r>
                      <a:r>
                        <a:rPr lang="es-MX" sz="900" b="1" dirty="0"/>
                        <a:t>registrar un incidente o riesgo</a:t>
                      </a:r>
                      <a:r>
                        <a:rPr lang="es-MX" sz="900" dirty="0"/>
                        <a:t> desde la plataforma web o móvil.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Para reportar de manera inmediata cualquier incidente o situación peligrosa en la operación minera.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sistema permite ingresar tipo, ubicación, descripción y evidencia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160565"/>
                  </a:ext>
                </a:extLst>
              </a:tr>
              <a:tr h="841583">
                <a:tc>
                  <a:txBody>
                    <a:bodyPr/>
                    <a:lstStyle/>
                    <a:p>
                      <a:pPr algn="ctr"/>
                      <a:r>
                        <a:rPr lang="es-PE" sz="700" b="1" dirty="0"/>
                        <a:t>ID.02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usuario debe poder </a:t>
                      </a:r>
                      <a:r>
                        <a:rPr lang="es-MX" sz="900" b="1" dirty="0"/>
                        <a:t>iniciar sesión con sus credenciales corporativas</a:t>
                      </a:r>
                      <a:r>
                        <a:rPr lang="es-MX" sz="900" dirty="0"/>
                        <a:t>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Para garantizar el acceso seguro al sistema y proteger la información de seguridad.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/>
                        <a:t>El sistema valida usuario y contraseña y redirige al panel principal según su rol.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678630"/>
                  </a:ext>
                </a:extLst>
              </a:tr>
              <a:tr h="841583">
                <a:tc>
                  <a:txBody>
                    <a:bodyPr/>
                    <a:lstStyle/>
                    <a:p>
                      <a:pPr algn="ctr"/>
                      <a:r>
                        <a:rPr lang="es-PE" sz="700" b="1" dirty="0"/>
                        <a:t>ID.03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supervisor de seguridad debe poder </a:t>
                      </a:r>
                      <a:r>
                        <a:rPr lang="es-MX" sz="900" b="1" dirty="0"/>
                        <a:t>visualizar la lista de incidentes reportados</a:t>
                      </a:r>
                      <a:r>
                        <a:rPr lang="es-MX" sz="900" dirty="0"/>
                        <a:t>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Para monitorear en tiempo real los incidentes ocurridos en las áreas de trabajo.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sistema muestra un panel con incidentes registrados, filtrados por fecha, área o nivel de riesgo.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250665"/>
                  </a:ext>
                </a:extLst>
              </a:tr>
              <a:tr h="841583">
                <a:tc>
                  <a:txBody>
                    <a:bodyPr/>
                    <a:lstStyle/>
                    <a:p>
                      <a:pPr algn="ctr"/>
                      <a:r>
                        <a:rPr lang="es-PE" sz="700" b="1" dirty="0"/>
                        <a:t>ID.04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sistema debe permitir </a:t>
                      </a:r>
                      <a:r>
                        <a:rPr lang="es-MX" sz="900" b="1" dirty="0"/>
                        <a:t>clasificar el incidente según nivel de riesgo</a:t>
                      </a:r>
                      <a:r>
                        <a:rPr lang="es-MX" sz="900" dirty="0"/>
                        <a:t> (bajo, medio, alto, crítico).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/>
                        <a:t>Para priorizar la atención y tomar acciones correctivas de manera oportuna.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incidente queda registrado con su nivel de riesgo y aparece en el panel de seguimiento.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116926"/>
                  </a:ext>
                </a:extLst>
              </a:tr>
              <a:tr h="841583">
                <a:tc>
                  <a:txBody>
                    <a:bodyPr/>
                    <a:lstStyle/>
                    <a:p>
                      <a:pPr algn="ctr"/>
                      <a:r>
                        <a:rPr lang="es-PE" sz="700" b="1" dirty="0"/>
                        <a:t>ID.05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encargado de seguridad debe poder </a:t>
                      </a:r>
                      <a:r>
                        <a:rPr lang="es-MX" sz="900" b="1" dirty="0"/>
                        <a:t>asignar responsables para la atención del incidente</a:t>
                      </a:r>
                      <a:r>
                        <a:rPr lang="es-MX" sz="900" dirty="0"/>
                        <a:t>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/>
                        <a:t>Para asegurar que cada incidente tenga seguimiento y solución.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sistema registra al responsable asignado y notifica al trabajador encargado.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806137"/>
                  </a:ext>
                </a:extLst>
              </a:tr>
              <a:tr h="683299">
                <a:tc>
                  <a:txBody>
                    <a:bodyPr/>
                    <a:lstStyle/>
                    <a:p>
                      <a:pPr algn="ctr"/>
                      <a:r>
                        <a:rPr lang="es-PE" sz="700" b="1" dirty="0"/>
                        <a:t>ID.06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sistema debe permitir </a:t>
                      </a:r>
                      <a:r>
                        <a:rPr lang="es-MX" sz="900" b="1" dirty="0"/>
                        <a:t>registrar acciones correctivas y estado del incidente</a:t>
                      </a:r>
                      <a:r>
                        <a:rPr lang="es-MX" sz="900" dirty="0"/>
                        <a:t>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/>
                        <a:t>Para llevar control del proceso de solución y prevención de futuros eventos.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incidente puede cambiar de estado: pendiente, en proceso o resuelto.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435025"/>
                  </a:ext>
                </a:extLst>
              </a:tr>
              <a:tr h="841583">
                <a:tc>
                  <a:txBody>
                    <a:bodyPr/>
                    <a:lstStyle/>
                    <a:p>
                      <a:pPr algn="ctr"/>
                      <a:r>
                        <a:rPr lang="es-PE" sz="700" b="1" dirty="0"/>
                        <a:t>ID.07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/>
                        <a:t>El sistema debe </a:t>
                      </a:r>
                      <a:r>
                        <a:rPr lang="es-MX" sz="900" b="1"/>
                        <a:t>enviar notificaciones automáticas</a:t>
                      </a:r>
                      <a:r>
                        <a:rPr lang="es-MX" sz="900"/>
                        <a:t> a supervisores y responsables.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900"/>
                        <a:t>Para informar oportunamente sobre incidentes críticos o nuevos reportes.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/>
                        <a:t>El sistema envía alertas por correo o notificación interna cuando se registra o actualiza un incidente.</a:t>
                      </a:r>
                    </a:p>
                  </a:txBody>
                  <a:tcPr marL="33804" marR="33804" marT="16902" marB="169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824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42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FB7AEF-EBE4-4D09-8CB7-8EABCB3BE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AFEBEB-E7DF-4119-99EC-3C2C5F3C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5688020" cy="621453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998" y="965200"/>
            <a:ext cx="4689938" cy="4815596"/>
          </a:xfrm>
        </p:spPr>
        <p:txBody>
          <a:bodyPr>
            <a:normAutofit/>
          </a:bodyPr>
          <a:lstStyle/>
          <a:p>
            <a:pPr algn="r"/>
            <a:r>
              <a:rPr lang="de-DE" dirty="0">
                <a:solidFill>
                  <a:srgbClr val="FFFFFF"/>
                </a:solidFill>
              </a:rPr>
              <a:t>SITUACIÓN PROBLEMÁTICA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25F227-C9F5-44BC-8ECE-188763D8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6434" y="321732"/>
            <a:ext cx="5693835" cy="62145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1065" y="974875"/>
            <a:ext cx="4724573" cy="4852362"/>
          </a:xfrm>
        </p:spPr>
        <p:txBody>
          <a:bodyPr anchor="ctr">
            <a:normAutofit/>
          </a:bodyPr>
          <a:lstStyle/>
          <a:p>
            <a:r>
              <a:rPr lang="es-MX" sz="1800" b="1" dirty="0"/>
              <a:t>En las empresas del sector minero en Arequipa, la gestión de incidentes de seguridad se realiza, en muchos casos, mediante procesos manuales o herramientas no especializadas.</a:t>
            </a:r>
            <a:endParaRPr lang="es-MX" sz="1800" dirty="0"/>
          </a:p>
          <a:p>
            <a:r>
              <a:rPr lang="es-MX" sz="1800" dirty="0"/>
              <a:t>Esto genera:</a:t>
            </a:r>
            <a:br>
              <a:rPr lang="es-MX" sz="1800" dirty="0"/>
            </a:br>
            <a:r>
              <a:rPr lang="es-MX" sz="1800" dirty="0"/>
              <a:t>• Desorganización de la información</a:t>
            </a:r>
            <a:br>
              <a:rPr lang="es-MX" sz="1800" dirty="0"/>
            </a:br>
            <a:r>
              <a:rPr lang="es-MX" sz="1800" dirty="0"/>
              <a:t>• Errores en el registro</a:t>
            </a:r>
            <a:br>
              <a:rPr lang="es-MX" sz="1800" dirty="0"/>
            </a:br>
            <a:r>
              <a:rPr lang="es-MX" sz="1800" dirty="0"/>
              <a:t>• Retrasos en el seguimiento</a:t>
            </a:r>
            <a:br>
              <a:rPr lang="es-MX" sz="1800" dirty="0"/>
            </a:br>
            <a:r>
              <a:rPr lang="es-MX" sz="1800" dirty="0"/>
              <a:t>• Dificultad para generar reportes confiables</a:t>
            </a:r>
          </a:p>
          <a:p>
            <a:r>
              <a:rPr lang="es-MX" sz="1800" dirty="0"/>
              <a:t>Como consecuencia:</a:t>
            </a:r>
            <a:br>
              <a:rPr lang="es-MX" sz="1800" dirty="0"/>
            </a:br>
            <a:r>
              <a:rPr lang="es-MX" sz="1800" dirty="0"/>
              <a:t>Se afecta la toma de decisiones y aumentan los riesgos en el entorno laboral.</a:t>
            </a:r>
          </a:p>
          <a:p>
            <a:r>
              <a:rPr lang="es-MX" sz="1800" b="1" dirty="0"/>
              <a:t>Causas principales:</a:t>
            </a:r>
            <a:br>
              <a:rPr lang="es-MX" sz="1800" dirty="0"/>
            </a:br>
            <a:r>
              <a:rPr lang="es-MX" sz="1800" dirty="0"/>
              <a:t>• Procesos manuales</a:t>
            </a:r>
            <a:br>
              <a:rPr lang="es-MX" sz="1800" dirty="0"/>
            </a:br>
            <a:r>
              <a:rPr lang="es-MX" sz="1800" dirty="0"/>
              <a:t>• Falta de digitalización</a:t>
            </a:r>
            <a:br>
              <a:rPr lang="es-MX" sz="1800" dirty="0"/>
            </a:br>
            <a:r>
              <a:rPr lang="es-MX" sz="1800" dirty="0"/>
              <a:t>• Ausencia de monitoreo en tiempo real</a:t>
            </a:r>
            <a:br>
              <a:rPr lang="es-MX" sz="1800" dirty="0"/>
            </a:br>
            <a:r>
              <a:rPr lang="es-MX" sz="1800" dirty="0"/>
              <a:t>• Falta de centralización de datos</a:t>
            </a:r>
          </a:p>
        </p:txBody>
      </p:sp>
    </p:spTree>
    <p:extLst>
      <p:ext uri="{BB962C8B-B14F-4D97-AF65-F5344CB8AC3E}">
        <p14:creationId xmlns:p14="http://schemas.microsoft.com/office/powerpoint/2010/main" val="3936618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9341BC3-1BB3-484B-916B-F5BF87BF79C2}"/>
              </a:ext>
            </a:extLst>
          </p:cNvPr>
          <p:cNvSpPr/>
          <p:nvPr/>
        </p:nvSpPr>
        <p:spPr>
          <a:xfrm>
            <a:off x="360632" y="2130879"/>
            <a:ext cx="2323385" cy="47897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1200" b="1" dirty="0">
                <a:solidFill>
                  <a:schemeClr val="tx1"/>
                </a:solidFill>
              </a:rPr>
              <a:t>REQUISITOS DEL PROGRAMA:</a:t>
            </a:r>
          </a:p>
          <a:p>
            <a:pPr algn="ctr"/>
            <a:endParaRPr lang="es-MX" sz="1200" b="1" dirty="0">
              <a:solidFill>
                <a:schemeClr val="tx1"/>
              </a:solidFill>
            </a:endParaRPr>
          </a:p>
          <a:p>
            <a:pPr algn="ctr"/>
            <a:endParaRPr lang="es-PE" sz="1200" b="1" dirty="0">
              <a:solidFill>
                <a:schemeClr val="tx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325D83A-FAD8-4743-969F-1FDACE16D4E5}"/>
              </a:ext>
            </a:extLst>
          </p:cNvPr>
          <p:cNvSpPr/>
          <p:nvPr/>
        </p:nvSpPr>
        <p:spPr>
          <a:xfrm>
            <a:off x="3133860" y="2111412"/>
            <a:ext cx="2608670" cy="49844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1200" b="1" dirty="0">
                <a:solidFill>
                  <a:schemeClr val="tx1"/>
                </a:solidFill>
              </a:rPr>
              <a:t>REQUISITOS DEL USUARIO:</a:t>
            </a:r>
          </a:p>
          <a:p>
            <a:pPr algn="ctr"/>
            <a:endParaRPr lang="es-MX" sz="1200" b="1" dirty="0">
              <a:solidFill>
                <a:schemeClr val="tx1"/>
              </a:solidFill>
            </a:endParaRPr>
          </a:p>
          <a:p>
            <a:pPr algn="ctr"/>
            <a:endParaRPr lang="es-PE" sz="1200" b="1" dirty="0">
              <a:solidFill>
                <a:schemeClr val="tx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6AF20B3-F413-4770-AA1D-CC1843D3A983}"/>
              </a:ext>
            </a:extLst>
          </p:cNvPr>
          <p:cNvSpPr/>
          <p:nvPr/>
        </p:nvSpPr>
        <p:spPr>
          <a:xfrm>
            <a:off x="6118728" y="2102703"/>
            <a:ext cx="2693895" cy="515857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REQUISITOS </a:t>
            </a:r>
            <a:r>
              <a:rPr lang="es-MX" sz="1200" b="1" dirty="0">
                <a:solidFill>
                  <a:schemeClr val="tx1"/>
                </a:solidFill>
              </a:rPr>
              <a:t>FUNCIONALES:</a:t>
            </a:r>
          </a:p>
          <a:p>
            <a:pPr algn="ctr"/>
            <a:endParaRPr lang="es-MX" sz="1200" b="1" dirty="0">
              <a:solidFill>
                <a:schemeClr val="tx1"/>
              </a:solidFill>
            </a:endParaRPr>
          </a:p>
          <a:p>
            <a:pPr algn="ctr"/>
            <a:endParaRPr lang="es-PE" sz="1200" b="1" dirty="0">
              <a:solidFill>
                <a:schemeClr val="tx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D4EA8F8-12E6-423D-A380-568378D1E786}"/>
              </a:ext>
            </a:extLst>
          </p:cNvPr>
          <p:cNvSpPr/>
          <p:nvPr/>
        </p:nvSpPr>
        <p:spPr>
          <a:xfrm>
            <a:off x="9188822" y="2096674"/>
            <a:ext cx="2693895" cy="515857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1200" b="1" dirty="0">
                <a:solidFill>
                  <a:schemeClr val="tx1"/>
                </a:solidFill>
              </a:rPr>
              <a:t>REQUISITOS NO FUNCIONALES:</a:t>
            </a:r>
          </a:p>
          <a:p>
            <a:pPr algn="ctr"/>
            <a:endParaRPr lang="es-MX" sz="1200" b="1" dirty="0">
              <a:solidFill>
                <a:schemeClr val="tx1"/>
              </a:solidFill>
            </a:endParaRPr>
          </a:p>
          <a:p>
            <a:pPr algn="ctr"/>
            <a:endParaRPr lang="es-PE" sz="1200" b="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AB01F-80F5-B8F3-5A2D-1E70993CF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883" y="696686"/>
            <a:ext cx="5168117" cy="1172270"/>
          </a:xfrm>
        </p:spPr>
        <p:txBody>
          <a:bodyPr>
            <a:normAutofit fontScale="90000"/>
          </a:bodyPr>
          <a:lstStyle/>
          <a:p>
            <a:r>
              <a:rPr lang="de-DE" dirty="0"/>
              <a:t>Lista de requerimientos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8CD5CE-69C2-782B-0689-F9C84F15775D}"/>
              </a:ext>
            </a:extLst>
          </p:cNvPr>
          <p:cNvSpPr txBox="1"/>
          <p:nvPr/>
        </p:nvSpPr>
        <p:spPr>
          <a:xfrm>
            <a:off x="411982" y="2770702"/>
            <a:ext cx="25911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• Sistema web desarrollado en Python (Django) con base de datos PostgreSQL</a:t>
            </a:r>
            <a:br>
              <a:rPr lang="es-MX" dirty="0"/>
            </a:br>
            <a:r>
              <a:rPr lang="es-MX" dirty="0"/>
              <a:t>• Compatible con navegadores modernos (Chrome, Edge, Firefox)</a:t>
            </a:r>
            <a:br>
              <a:rPr lang="es-MX" dirty="0"/>
            </a:br>
            <a:r>
              <a:rPr lang="es-MX" dirty="0"/>
              <a:t>• Acceso desde computadoras y dispositivos móviles</a:t>
            </a:r>
            <a:br>
              <a:rPr lang="es-MX" dirty="0"/>
            </a:br>
            <a:r>
              <a:rPr lang="es-MX" dirty="0"/>
              <a:t>• Disponibilidad 24/7 para el registro de incidentes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E26CB03-F85F-52B9-D5BC-EE7415FC96D6}"/>
              </a:ext>
            </a:extLst>
          </p:cNvPr>
          <p:cNvSpPr txBox="1"/>
          <p:nvPr/>
        </p:nvSpPr>
        <p:spPr>
          <a:xfrm>
            <a:off x="3133860" y="2770702"/>
            <a:ext cx="260867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• Registrar incidentes o condiciones inseguras</a:t>
            </a:r>
            <a:br>
              <a:rPr lang="es-MX" dirty="0"/>
            </a:br>
            <a:r>
              <a:rPr lang="es-MX" dirty="0"/>
              <a:t>• Iniciar sesión con credenciales</a:t>
            </a:r>
            <a:br>
              <a:rPr lang="es-MX" dirty="0"/>
            </a:br>
            <a:r>
              <a:rPr lang="es-MX" dirty="0"/>
              <a:t>• Visualizar y gestionar incidentes reportados</a:t>
            </a:r>
            <a:br>
              <a:rPr lang="es-MX" dirty="0"/>
            </a:br>
            <a:r>
              <a:rPr lang="es-MX" dirty="0"/>
              <a:t>• Asignar responsables y hacer seguimiento</a:t>
            </a:r>
            <a:br>
              <a:rPr lang="es-MX" dirty="0"/>
            </a:br>
            <a:r>
              <a:rPr lang="es-MX" dirty="0"/>
              <a:t>• Consultar estado de los incidentes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AC02C0A-C3B9-F11B-9936-223A489E4EB9}"/>
              </a:ext>
            </a:extLst>
          </p:cNvPr>
          <p:cNvSpPr txBox="1"/>
          <p:nvPr/>
        </p:nvSpPr>
        <p:spPr>
          <a:xfrm>
            <a:off x="6209268" y="2770701"/>
            <a:ext cx="26086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• Registrar incidentes de seguridad</a:t>
            </a:r>
            <a:br>
              <a:rPr lang="es-PE" dirty="0"/>
            </a:br>
            <a:r>
              <a:rPr lang="es-PE" dirty="0"/>
              <a:t>• Adjuntar evidencias (fotos/documentos)</a:t>
            </a:r>
            <a:br>
              <a:rPr lang="es-PE" dirty="0"/>
            </a:br>
            <a:r>
              <a:rPr lang="es-PE" dirty="0"/>
              <a:t>• Clasificar incidentes por nivel de riesgo</a:t>
            </a:r>
            <a:br>
              <a:rPr lang="es-PE" dirty="0"/>
            </a:br>
            <a:r>
              <a:rPr lang="es-PE" dirty="0"/>
              <a:t>• Visualizar incidentes en un panel</a:t>
            </a:r>
            <a:br>
              <a:rPr lang="es-PE" dirty="0"/>
            </a:br>
            <a:r>
              <a:rPr lang="es-PE" dirty="0"/>
              <a:t>• Actualizar estado del incidente</a:t>
            </a:r>
            <a:br>
              <a:rPr lang="es-PE" dirty="0"/>
            </a:br>
            <a:r>
              <a:rPr lang="es-PE" dirty="0"/>
              <a:t>• Generar reportes</a:t>
            </a:r>
            <a:br>
              <a:rPr lang="es-PE" dirty="0"/>
            </a:br>
            <a:r>
              <a:rPr lang="es-PE" dirty="0"/>
              <a:t>• Enviar notificaciones automáticas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1B431E2-9976-CDD1-8A2B-D565BAC8A799}"/>
              </a:ext>
            </a:extLst>
          </p:cNvPr>
          <p:cNvSpPr txBox="1"/>
          <p:nvPr/>
        </p:nvSpPr>
        <p:spPr>
          <a:xfrm>
            <a:off x="9284676" y="2770701"/>
            <a:ext cx="25980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• Tiempo de respuesta menor a 5 segundos</a:t>
            </a:r>
            <a:br>
              <a:rPr lang="es-MX" dirty="0"/>
            </a:br>
            <a:r>
              <a:rPr lang="es-MX" dirty="0"/>
              <a:t>• Seguridad mediante autenticación de usuarios</a:t>
            </a:r>
            <a:br>
              <a:rPr lang="es-MX" dirty="0"/>
            </a:br>
            <a:r>
              <a:rPr lang="es-MX" dirty="0"/>
              <a:t>• Sistema escalable</a:t>
            </a:r>
            <a:br>
              <a:rPr lang="es-MX" dirty="0"/>
            </a:br>
            <a:r>
              <a:rPr lang="es-MX" dirty="0"/>
              <a:t>• Copias de seguridad automáticas</a:t>
            </a:r>
            <a:br>
              <a:rPr lang="es-MX" dirty="0"/>
            </a:br>
            <a:r>
              <a:rPr lang="es-MX" dirty="0"/>
              <a:t>• Interfaz intuitiva y fácil de usar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6736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23430B4-C2B6-48DA-A79F-757492AF8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>
            <a:normAutofit/>
          </a:bodyPr>
          <a:lstStyle/>
          <a:p>
            <a:r>
              <a:rPr lang="de-DE" sz="4400" dirty="0"/>
              <a:t>Objetivos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53BDBF-1B08-496E-BED4-E0DE721A0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2286000"/>
            <a:ext cx="4389120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MX" sz="1600" b="1" u="sng" dirty="0"/>
              <a:t>Objetivo general</a:t>
            </a:r>
          </a:p>
          <a:p>
            <a:pPr marL="90488" indent="0">
              <a:buNone/>
            </a:pPr>
            <a:r>
              <a:rPr lang="es-MX" sz="1600" dirty="0"/>
              <a:t>Desarrollar un sistema informático para la gestión de incidentes de seguridad en empresas del sector minero en Arequipa, que permita optimizar el registro, control y seguimiento de la información.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MX" sz="1600" b="1" u="sng" dirty="0"/>
              <a:t>Objetivos específicos</a:t>
            </a:r>
          </a:p>
          <a:p>
            <a:pPr marL="268287" indent="0">
              <a:buNone/>
            </a:pPr>
            <a:r>
              <a:rPr lang="es-MX" sz="1600" dirty="0"/>
              <a:t>• Diseñar la estructura del sistema para la gestión de incidentes</a:t>
            </a:r>
            <a:br>
              <a:rPr lang="es-MX" sz="1600" dirty="0"/>
            </a:br>
            <a:r>
              <a:rPr lang="es-MX" sz="1600" dirty="0"/>
              <a:t>• Implementar el registro digital de incidentes de seguridad</a:t>
            </a:r>
            <a:br>
              <a:rPr lang="es-MX" sz="1600" dirty="0"/>
            </a:br>
            <a:r>
              <a:rPr lang="es-MX" sz="1600" dirty="0"/>
              <a:t>• Permitir el monitoreo y seguimiento en tiempo real</a:t>
            </a:r>
            <a:br>
              <a:rPr lang="es-MX" sz="1600" dirty="0"/>
            </a:br>
            <a:r>
              <a:rPr lang="es-MX" sz="1600" dirty="0"/>
              <a:t>• Generar reportes para la toma de decisiones</a:t>
            </a:r>
            <a:br>
              <a:rPr lang="es-MX" sz="1600" dirty="0"/>
            </a:br>
            <a:r>
              <a:rPr lang="es-MX" sz="1600" dirty="0"/>
              <a:t>• Centralizar la información en una base de datos</a:t>
            </a:r>
          </a:p>
        </p:txBody>
      </p:sp>
      <p:pic>
        <p:nvPicPr>
          <p:cNvPr id="23" name="Graphic 22" descr="Diana">
            <a:extLst>
              <a:ext uri="{FF2B5EF4-FFF2-40B4-BE49-F238E27FC236}">
                <a16:creationId xmlns:a16="http://schemas.microsoft.com/office/drawing/2014/main" id="{615878AF-3DB5-7F17-883F-CC26A93500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56116" y="1342665"/>
            <a:ext cx="4175762" cy="417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89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44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CB1ECE-5D00-2DFF-7570-AB3FC2E99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Justificacion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F7C49F5-DB40-462F-9BA6-1E3BD901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560539"/>
              </p:ext>
            </p:extLst>
          </p:nvPr>
        </p:nvGraphicFramePr>
        <p:xfrm>
          <a:off x="4654984" y="872364"/>
          <a:ext cx="6896937" cy="5114251"/>
        </p:xfrm>
        <a:graphic>
          <a:graphicData uri="http://schemas.openxmlformats.org/drawingml/2006/table">
            <a:tbl>
              <a:tblPr firstRow="1" bandRow="1">
                <a:noFill/>
                <a:tableStyleId>{793D81CF-94F2-401A-BA57-92F5A7B2D0C5}</a:tableStyleId>
              </a:tblPr>
              <a:tblGrid>
                <a:gridCol w="2344727">
                  <a:extLst>
                    <a:ext uri="{9D8B030D-6E8A-4147-A177-3AD203B41FA5}">
                      <a16:colId xmlns:a16="http://schemas.microsoft.com/office/drawing/2014/main" val="2443442927"/>
                    </a:ext>
                  </a:extLst>
                </a:gridCol>
                <a:gridCol w="2248077">
                  <a:extLst>
                    <a:ext uri="{9D8B030D-6E8A-4147-A177-3AD203B41FA5}">
                      <a16:colId xmlns:a16="http://schemas.microsoft.com/office/drawing/2014/main" val="3905314231"/>
                    </a:ext>
                  </a:extLst>
                </a:gridCol>
                <a:gridCol w="2304133">
                  <a:extLst>
                    <a:ext uri="{9D8B030D-6E8A-4147-A177-3AD203B41FA5}">
                      <a16:colId xmlns:a16="http://schemas.microsoft.com/office/drawing/2014/main" val="77976696"/>
                    </a:ext>
                  </a:extLst>
                </a:gridCol>
              </a:tblGrid>
              <a:tr h="419384">
                <a:tc>
                  <a:txBody>
                    <a:bodyPr/>
                    <a:lstStyle/>
                    <a:p>
                      <a:r>
                        <a:rPr lang="es-PE" sz="1200" b="1" cap="none" spc="0" dirty="0">
                          <a:solidFill>
                            <a:schemeClr val="tx1"/>
                          </a:solidFill>
                        </a:rPr>
                        <a:t>SOLUCIÓN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 cap="none" spc="0" dirty="0">
                          <a:solidFill>
                            <a:schemeClr val="tx1"/>
                          </a:solidFill>
                        </a:rPr>
                        <a:t>BENEFICIOS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1" cap="none" spc="0" dirty="0">
                          <a:solidFill>
                            <a:schemeClr val="tx1"/>
                          </a:solidFill>
                        </a:rPr>
                        <a:t>IMPACTOS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971133"/>
                  </a:ext>
                </a:extLst>
              </a:tr>
              <a:tr h="790519">
                <a:tc>
                  <a:txBody>
                    <a:bodyPr/>
                    <a:lstStyle/>
                    <a:p>
                      <a:r>
                        <a:rPr lang="es-MX" sz="1200" cap="none" spc="0" dirty="0">
                          <a:solidFill>
                            <a:schemeClr val="tx1"/>
                          </a:solidFill>
                        </a:rPr>
                        <a:t>Desarrollo de un sistema informático de gestión de incidentes de seguridad minera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Mejora en la comunicación y reporte inmediato de incidentes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cap="none" spc="0" dirty="0">
                          <a:solidFill>
                            <a:schemeClr val="tx1"/>
                          </a:solidFill>
                        </a:rPr>
                        <a:t>Reducción de accidentes laborales</a:t>
                      </a:r>
                      <a:endParaRPr lang="es-MX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115169"/>
                  </a:ext>
                </a:extLst>
              </a:tr>
              <a:tr h="976087">
                <a:tc>
                  <a:txBody>
                    <a:bodyPr/>
                    <a:lstStyle/>
                    <a:p>
                      <a:r>
                        <a:rPr lang="es-PE" sz="1200" dirty="0"/>
                        <a:t>Reducción de accidentes laborales</a:t>
                      </a:r>
                      <a:endParaRPr lang="es-MX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Acceso rápido a la información en tiempo real</a:t>
                      </a:r>
                      <a:endParaRPr lang="es-MX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Mayor control y trazabilidad de incidentes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98308"/>
                  </a:ext>
                </a:extLst>
              </a:tr>
              <a:tr h="976087">
                <a:tc>
                  <a:txBody>
                    <a:bodyPr/>
                    <a:lstStyle/>
                    <a:p>
                      <a:r>
                        <a:rPr lang="es-MX" sz="1200" dirty="0"/>
                        <a:t>Módulos de reporte y seguimiento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Automatización de procesos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Automatización de procesos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16167"/>
                  </a:ext>
                </a:extLst>
              </a:tr>
              <a:tr h="976087">
                <a:tc>
                  <a:txBody>
                    <a:bodyPr/>
                    <a:lstStyle/>
                    <a:p>
                      <a:r>
                        <a:rPr lang="es-PE" sz="1200" dirty="0"/>
                        <a:t>Sistema de alertas automáticas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Respuesta rápida ante incidentes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Prevención de riesgos graves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7932"/>
                  </a:ext>
                </a:extLst>
              </a:tr>
              <a:tr h="976087">
                <a:tc>
                  <a:txBody>
                    <a:bodyPr/>
                    <a:lstStyle/>
                    <a:p>
                      <a:r>
                        <a:rPr lang="es-PE" sz="1200" dirty="0"/>
                        <a:t>Reportes e indicadores (</a:t>
                      </a:r>
                      <a:r>
                        <a:rPr lang="es-PE" sz="1200" dirty="0" err="1"/>
                        <a:t>KPIs</a:t>
                      </a:r>
                      <a:r>
                        <a:rPr lang="es-PE" sz="1200" dirty="0"/>
                        <a:t>)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Análisis y evaluación de seguridad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dirty="0"/>
                        <a:t>Mejora en la toma de decisiones</a:t>
                      </a:r>
                    </a:p>
                  </a:txBody>
                  <a:tcPr marL="0" marR="55670" marT="22268" marB="16701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504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20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de-DE" dirty="0">
                <a:solidFill>
                  <a:srgbClr val="FFFFFF"/>
                </a:solidFill>
              </a:rPr>
              <a:t>PROPUESTA DE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MX" sz="1700" b="1" u="sng" dirty="0"/>
              <a:t>Propuesta:</a:t>
            </a:r>
          </a:p>
          <a:p>
            <a:r>
              <a:rPr lang="es-MX" sz="1700" dirty="0"/>
              <a:t>Desarrollo del sistema web </a:t>
            </a:r>
            <a:r>
              <a:rPr lang="es-MX" sz="1700" b="1" dirty="0"/>
              <a:t>SomaSafe</a:t>
            </a:r>
            <a:r>
              <a:rPr lang="es-MX" sz="1700" dirty="0"/>
              <a:t>, orientado a la gestión de incidentes de seguridad en empresas mineras en Arequipa.</a:t>
            </a:r>
          </a:p>
          <a:p>
            <a:r>
              <a:rPr lang="es-MX" sz="1700" dirty="0"/>
              <a:t>Permitirá registrar, monitorear y dar seguimiento a incidentes en tiempo real, mejorando el control de la información y la toma de decisiones.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1700" b="1" u="sng" dirty="0"/>
              <a:t>Arquitectura del sistema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700" dirty="0"/>
              <a:t>• </a:t>
            </a:r>
            <a:r>
              <a:rPr lang="es-MX" sz="1700" b="1" dirty="0"/>
              <a:t>Frontend:</a:t>
            </a:r>
            <a:r>
              <a:rPr lang="es-MX" sz="1700" dirty="0"/>
              <a:t> Interfaz web para registro y visualización de incidentes</a:t>
            </a:r>
            <a:br>
              <a:rPr lang="es-MX" sz="1700" dirty="0"/>
            </a:br>
            <a:r>
              <a:rPr lang="es-MX" sz="1700" dirty="0"/>
              <a:t>• </a:t>
            </a:r>
            <a:r>
              <a:rPr lang="es-MX" sz="1700" b="1" dirty="0"/>
              <a:t>Backend:</a:t>
            </a:r>
            <a:r>
              <a:rPr lang="es-MX" sz="1700" dirty="0"/>
              <a:t> Lógica del sistema y procesamiento de datos</a:t>
            </a:r>
            <a:br>
              <a:rPr lang="es-MX" sz="1700" dirty="0"/>
            </a:br>
            <a:r>
              <a:rPr lang="es-MX" sz="1700" dirty="0"/>
              <a:t>• </a:t>
            </a:r>
            <a:r>
              <a:rPr lang="es-MX" sz="1700" b="1" dirty="0"/>
              <a:t>Base de datos:</a:t>
            </a:r>
            <a:r>
              <a:rPr lang="es-MX" sz="1700" dirty="0"/>
              <a:t> Almacenamiento centralizado de incidentes</a:t>
            </a:r>
            <a:br>
              <a:rPr lang="es-MX" sz="1700" dirty="0"/>
            </a:br>
            <a:endParaRPr lang="es-MX" sz="1700" dirty="0"/>
          </a:p>
          <a:p>
            <a:pPr>
              <a:buFont typeface="Wingdings" panose="05000000000000000000" pitchFamily="2" charset="2"/>
              <a:buChar char="Ø"/>
            </a:pPr>
            <a:r>
              <a:rPr lang="es-MX" sz="1700" b="1" u="sng" dirty="0"/>
              <a:t>Tecnologías a utilizar</a:t>
            </a:r>
          </a:p>
          <a:p>
            <a:pPr marL="84138" indent="0">
              <a:buNone/>
            </a:pPr>
            <a:r>
              <a:rPr lang="es-PE" sz="1700" dirty="0"/>
              <a:t>• Lenguaje: Python</a:t>
            </a:r>
            <a:br>
              <a:rPr lang="es-PE" sz="1700" dirty="0"/>
            </a:br>
            <a:r>
              <a:rPr lang="es-PE" sz="1700" dirty="0"/>
              <a:t>• Framework: Django</a:t>
            </a:r>
            <a:br>
              <a:rPr lang="es-PE" sz="1700" dirty="0"/>
            </a:br>
            <a:r>
              <a:rPr lang="es-PE" sz="1700" dirty="0"/>
              <a:t>• Base de datos: PostgreSQL</a:t>
            </a:r>
            <a:br>
              <a:rPr lang="es-PE" sz="1700" dirty="0"/>
            </a:br>
            <a:r>
              <a:rPr lang="es-PE" sz="1700" dirty="0"/>
              <a:t>• Frontend: HTML, CSS</a:t>
            </a:r>
            <a:endParaRPr lang="es-MX" sz="1700" dirty="0"/>
          </a:p>
          <a:p>
            <a:pPr>
              <a:buNone/>
            </a:pPr>
            <a:endParaRPr lang="es-MX" sz="1700" dirty="0"/>
          </a:p>
        </p:txBody>
      </p:sp>
    </p:spTree>
    <p:extLst>
      <p:ext uri="{BB962C8B-B14F-4D97-AF65-F5344CB8AC3E}">
        <p14:creationId xmlns:p14="http://schemas.microsoft.com/office/powerpoint/2010/main" val="33474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672" y="585216"/>
            <a:ext cx="2159640" cy="1524938"/>
          </a:xfrm>
        </p:spPr>
        <p:txBody>
          <a:bodyPr>
            <a:normAutofit/>
          </a:bodyPr>
          <a:lstStyle/>
          <a:p>
            <a:pPr algn="r"/>
            <a:r>
              <a:rPr lang="de-DE" dirty="0"/>
              <a:t>ALCANCEs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69361B5-98D0-5A43-3977-F312141CA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20235"/>
              </p:ext>
            </p:extLst>
          </p:nvPr>
        </p:nvGraphicFramePr>
        <p:xfrm>
          <a:off x="3993502" y="411208"/>
          <a:ext cx="7383826" cy="6026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048D67F-3A6C-12ED-32E9-29810B582D55}"/>
              </a:ext>
            </a:extLst>
          </p:cNvPr>
          <p:cNvSpPr txBox="1">
            <a:spLocks/>
          </p:cNvSpPr>
          <p:nvPr/>
        </p:nvSpPr>
        <p:spPr>
          <a:xfrm>
            <a:off x="814672" y="3872701"/>
            <a:ext cx="2983605" cy="1524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de-DE" dirty="0"/>
              <a:t>Limitaciones</a:t>
            </a:r>
          </a:p>
        </p:txBody>
      </p:sp>
    </p:spTree>
    <p:extLst>
      <p:ext uri="{BB962C8B-B14F-4D97-AF65-F5344CB8AC3E}">
        <p14:creationId xmlns:p14="http://schemas.microsoft.com/office/powerpoint/2010/main" val="2362044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C537F-7C5A-F9D5-B625-0B9895EE8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/>
              <a:t>Estado del arte</a:t>
            </a:r>
          </a:p>
        </p:txBody>
      </p:sp>
      <p:cxnSp>
        <p:nvCxnSpPr>
          <p:cNvPr id="6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C9D22BCC-8D3B-298E-5485-6355AECC8C60}"/>
              </a:ext>
            </a:extLst>
          </p:cNvPr>
          <p:cNvSpPr txBox="1"/>
          <p:nvPr/>
        </p:nvSpPr>
        <p:spPr>
          <a:xfrm>
            <a:off x="4999330" y="804333"/>
            <a:ext cx="6257721" cy="524933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r>
              <a:rPr lang="en-US"/>
              <a:t>Actualmente, la gestión de incidentes de seguridad en empresas mineras se realiza, en muchos casos, mediante procesos manuales o herramientas no integradas, lo que dificulta el registro, seguimiento y control de la información. Existen soluciones tecnológicas como sistemas web y bases de datos centralizadas que permiten optimizar estos procesos; sin embargo, su implementación aún es limitada, generando oportunidades de mejora en la digitalización y monitoreo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172604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95210-2D6E-037E-6455-6F8C6F90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A3506-C49D-83A9-2052-6959D725C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PROJECT CHARTER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9BD5D370-6EDC-ECA0-3D76-02EEAF6AF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91"/>
          <a:stretch>
            <a:fillRect/>
          </a:stretch>
        </p:blipFill>
        <p:spPr>
          <a:xfrm>
            <a:off x="5940928" y="237139"/>
            <a:ext cx="4891830" cy="638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4A5E-E2D5-5CEF-95F2-A77416B2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44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6BF9C-8AEF-0B23-CE75-742D5708D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Lean canvas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9B6C60B9-9FC1-768F-B913-00AC3A011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84" y="843137"/>
            <a:ext cx="6896936" cy="517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9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5C526-3914-9898-E7DF-00B98033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57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617E2-B1F3-FDBD-1D8C-7EB9759E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4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Diagrama de Ishikawa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1E2F501-3827-1094-3D3B-1BFB308B3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984" y="843137"/>
            <a:ext cx="6896936" cy="517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E6D53-9E00-99B6-553F-7657815B1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5ADF38B-6331-230C-AC3D-41D53B70B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Diagrama </a:t>
            </a:r>
            <a:r>
              <a:rPr lang="en-US" spc="200" dirty="0"/>
              <a:t>Gantt</a:t>
            </a:r>
            <a:endParaRPr lang="en-US" kern="1200" cap="all" spc="200" baseline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0BD8E3-CB19-EDBC-12B5-E16277D02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27" b="20879"/>
          <a:stretch>
            <a:fillRect/>
          </a:stretch>
        </p:blipFill>
        <p:spPr>
          <a:xfrm>
            <a:off x="2090779" y="640080"/>
            <a:ext cx="8004638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83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de-DE" dirty="0"/>
              <a:t>CRONOGRAMA DE ACTIVIDADES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AAB392-467F-4A68-E908-A1D0A8351D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002237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944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5867061" cy="1499616"/>
          </a:xfrm>
        </p:spPr>
        <p:txBody>
          <a:bodyPr>
            <a:normAutofit/>
          </a:bodyPr>
          <a:lstStyle/>
          <a:p>
            <a:r>
              <a:rPr lang="de-DE" dirty="0"/>
              <a:t>prototipos</a:t>
            </a: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7573DAB8-B5BB-5FD7-37EE-C23F123DC4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4558" y="2286000"/>
            <a:ext cx="3886200" cy="3886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4D39DB-AFA4-47BA-A7F2-13A71D210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-2"/>
            <a:ext cx="4657344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1490" y="585216"/>
            <a:ext cx="3527043" cy="5586984"/>
          </a:xfrm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s-MX" sz="2000" dirty="0"/>
              <a:t>Se presentan prototipos del sistema SomaSafe que muestran la estructura y diseño de las principales interfaces del usuario.</a:t>
            </a:r>
          </a:p>
          <a:p>
            <a:pPr>
              <a:buNone/>
            </a:pPr>
            <a:r>
              <a:rPr lang="es-MX" sz="2000" b="1" dirty="0"/>
              <a:t>1.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Usuario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Contraseña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Botón “Ingresar” </a:t>
            </a:r>
            <a:br>
              <a:rPr lang="es-MX" sz="2000" dirty="0"/>
            </a:br>
            <a:endParaRPr lang="es-MX" sz="2000" dirty="0"/>
          </a:p>
          <a:p>
            <a:pPr>
              <a:buNone/>
            </a:pPr>
            <a:r>
              <a:rPr lang="es-MX" sz="2000" b="1" dirty="0"/>
              <a:t>2. Registro de incidente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Tipo de incidente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Fecha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Descripción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Ubicación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Botón “Guardar” </a:t>
            </a:r>
            <a:br>
              <a:rPr lang="es-MX" sz="2000" dirty="0"/>
            </a:br>
            <a:endParaRPr lang="es-MX" sz="2000" dirty="0"/>
          </a:p>
          <a:p>
            <a:pPr>
              <a:buNone/>
            </a:pPr>
            <a:r>
              <a:rPr lang="es-MX" sz="2000" b="1" dirty="0"/>
              <a:t>3. Lista de incidentes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Tabla con incidentes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Estado (pendiente, resuelto)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000" dirty="0"/>
              <a:t>Botón “Ver” o “Editar”</a:t>
            </a:r>
          </a:p>
          <a:p>
            <a:pPr marL="0" indent="0">
              <a:buNone/>
            </a:pPr>
            <a:endParaRPr lang="de-DE"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0092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1572</Words>
  <Application>Microsoft Office PowerPoint</Application>
  <PresentationFormat>Panorámica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Tw Cen MT</vt:lpstr>
      <vt:lpstr>Tw Cen MT Condensed</vt:lpstr>
      <vt:lpstr>Wingdings</vt:lpstr>
      <vt:lpstr>Wingdings 3</vt:lpstr>
      <vt:lpstr>Office Theme</vt:lpstr>
      <vt:lpstr>Integral</vt:lpstr>
      <vt:lpstr>Sistema informático de gestión de incidentes y seguridad para empresas del sector minero en la ciudad de Arequipa – SomaSafe</vt:lpstr>
      <vt:lpstr>Somasafe/area</vt:lpstr>
      <vt:lpstr>Sistema informático de gestión de incidentes y seguridad para empresas del sector minero en la ciudad de Arequipa – SomaSafe</vt:lpstr>
      <vt:lpstr>RESUMEN</vt:lpstr>
      <vt:lpstr>El sistema permite registrar, gestionar y monitorear incidentes de seguridad en tiempo real.  Facilita el reporte de condiciones inseguras, almacenamiento de información y seguimiento de incidentes.  Además, permite la asignación de responsables y notificación automática para una gestión eficiente.</vt:lpstr>
      <vt:lpstr>SITUACIÓN PROBLEMÁTICA</vt:lpstr>
      <vt:lpstr>Lista de requerimientos</vt:lpstr>
      <vt:lpstr>Objetivos</vt:lpstr>
      <vt:lpstr>Justificacion</vt:lpstr>
      <vt:lpstr>PROPUESTA DE SOLUCIÓN</vt:lpstr>
      <vt:lpstr>ALCANCEs</vt:lpstr>
      <vt:lpstr>Estado del arte</vt:lpstr>
      <vt:lpstr>PROJECT CHARTER</vt:lpstr>
      <vt:lpstr>Lean canvas</vt:lpstr>
      <vt:lpstr>Diagrama de Ishikawa</vt:lpstr>
      <vt:lpstr>Diagrama Gantt</vt:lpstr>
      <vt:lpstr>CRONOGRAMA DE ACTIVIDADES</vt:lpstr>
      <vt:lpstr>prototipos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2017-05-04T10:16:19Z</dcterms:created>
  <dcterms:modified xsi:type="dcterms:W3CDTF">2026-04-07T04:41:24Z</dcterms:modified>
</cp:coreProperties>
</file>